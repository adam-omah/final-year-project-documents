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ans Italics" charset="1" panose="00000000000000000000"/>
      <p:regular r:id="rId14"/>
    </p:embeddedFont>
    <p:embeddedFont>
      <p:font typeface="Now Bold" charset="1" panose="00000800000000000000"/>
      <p:regular r:id="rId15"/>
    </p:embeddedFont>
    <p:embeddedFont>
      <p:font typeface="Now" charset="1" panose="00000500000000000000"/>
      <p:regular r:id="rId16"/>
    </p:embeddedFon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6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80940" y="649592"/>
            <a:ext cx="7516996" cy="8987817"/>
            <a:chOff x="0" y="0"/>
            <a:chExt cx="8603361" cy="102867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2794" y="-127"/>
              <a:ext cx="8606155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6155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4"/>
              <a:stretch>
                <a:fillRect l="0" t="-12765" r="0" b="-1276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73748" y="7036704"/>
            <a:ext cx="7913921" cy="46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7"/>
              </a:lnSpc>
              <a:spcBef>
                <a:spcPct val="0"/>
              </a:spcBef>
            </a:pPr>
            <a:r>
              <a:rPr lang="en-US" sz="3030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Adam O’Mahony T00227115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3748" y="3625154"/>
            <a:ext cx="10959085" cy="173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8"/>
              </a:lnSpc>
            </a:pPr>
            <a:r>
              <a:rPr lang="en-US" sz="11306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FINAL YEAR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73748" y="5337186"/>
            <a:ext cx="9659937" cy="170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68"/>
              </a:lnSpc>
            </a:pPr>
            <a:r>
              <a:rPr lang="en-US" sz="11306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1160" y="9258300"/>
            <a:ext cx="13457996" cy="3264379"/>
            <a:chOff x="0" y="0"/>
            <a:chExt cx="17943995" cy="4352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6150721">
            <a:off x="6080933" y="4579544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7172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807534" y="-1118840"/>
            <a:ext cx="7557022" cy="13448838"/>
            <a:chOff x="0" y="0"/>
            <a:chExt cx="10076029" cy="1793178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1491787"/>
              <a:ext cx="8339054" cy="13716000"/>
              <a:chOff x="0" y="0"/>
              <a:chExt cx="3860673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60673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860673">
                    <a:moveTo>
                      <a:pt x="3860673" y="0"/>
                    </a:moveTo>
                    <a:lnTo>
                      <a:pt x="2341753" y="6350000"/>
                    </a:lnTo>
                    <a:lnTo>
                      <a:pt x="0" y="6350000"/>
                    </a:lnTo>
                    <a:lnTo>
                      <a:pt x="1518920" y="0"/>
                    </a:lnTo>
                    <a:lnTo>
                      <a:pt x="3860673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3436" t="0" r="-73436" b="0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-4615544">
              <a:off x="-1728966" y="8213951"/>
              <a:ext cx="18059735" cy="1503882"/>
            </a:xfrm>
            <a:custGeom>
              <a:avLst/>
              <a:gdLst/>
              <a:ahLst/>
              <a:cxnLst/>
              <a:rect r="r" b="b" t="t" l="l"/>
              <a:pathLst>
                <a:path h="1503882" w="18059735">
                  <a:moveTo>
                    <a:pt x="0" y="0"/>
                  </a:moveTo>
                  <a:lnTo>
                    <a:pt x="18059736" y="0"/>
                  </a:lnTo>
                  <a:lnTo>
                    <a:pt x="18059736" y="1503882"/>
                  </a:lnTo>
                  <a:lnTo>
                    <a:pt x="0" y="150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7172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8700" y="1935404"/>
            <a:ext cx="12079086" cy="628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08"/>
              </a:lnSpc>
              <a:spcBef>
                <a:spcPct val="0"/>
              </a:spcBef>
            </a:pPr>
            <a:r>
              <a:rPr lang="en-US" sz="6924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Why is there a divide between the Theoretical definition of Microservice Architecture when it comes to Databases and their Implementation?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7600" y="0"/>
            <a:ext cx="6279570" cy="10287000"/>
          </a:xfrm>
          <a:custGeom>
            <a:avLst/>
            <a:gdLst/>
            <a:ahLst/>
            <a:cxnLst/>
            <a:rect r="r" b="b" t="t" l="l"/>
            <a:pathLst>
              <a:path h="10287000" w="6279570">
                <a:moveTo>
                  <a:pt x="0" y="0"/>
                </a:moveTo>
                <a:lnTo>
                  <a:pt x="6279571" y="0"/>
                </a:lnTo>
                <a:lnTo>
                  <a:pt x="62795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1" r="-11111" b="-9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93373" y="-5458262"/>
            <a:ext cx="10196686" cy="10196686"/>
          </a:xfrm>
          <a:custGeom>
            <a:avLst/>
            <a:gdLst/>
            <a:ahLst/>
            <a:cxnLst/>
            <a:rect r="r" b="b" t="t" l="l"/>
            <a:pathLst>
              <a:path h="10196686" w="10196686">
                <a:moveTo>
                  <a:pt x="0" y="0"/>
                </a:moveTo>
                <a:lnTo>
                  <a:pt x="10196686" y="0"/>
                </a:lnTo>
                <a:lnTo>
                  <a:pt x="10196686" y="10196685"/>
                </a:lnTo>
                <a:lnTo>
                  <a:pt x="0" y="10196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7329" y="6667836"/>
            <a:ext cx="8414387" cy="8414387"/>
          </a:xfrm>
          <a:custGeom>
            <a:avLst/>
            <a:gdLst/>
            <a:ahLst/>
            <a:cxnLst/>
            <a:rect r="r" b="b" t="t" l="l"/>
            <a:pathLst>
              <a:path h="8414387" w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97011" y="1879014"/>
            <a:ext cx="9879016" cy="73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19"/>
              </a:lnSpc>
              <a:spcBef>
                <a:spcPct val="0"/>
              </a:spcBef>
            </a:pPr>
            <a:r>
              <a:rPr lang="en-US" b="true" sz="4766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MAIN RESEARCH AREAS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47387" y="7220205"/>
            <a:ext cx="962864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0"/>
              </a:lnSpc>
              <a:spcBef>
                <a:spcPct val="0"/>
              </a:spcBef>
            </a:pPr>
            <a:r>
              <a:rPr lang="en-US" b="true" sz="5000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Technologies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79535" y="2952478"/>
            <a:ext cx="1717476" cy="1717476"/>
            <a:chOff x="0" y="0"/>
            <a:chExt cx="2289968" cy="228996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289968" cy="228996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10142" y="428847"/>
              <a:ext cx="1469684" cy="1432274"/>
            </a:xfrm>
            <a:custGeom>
              <a:avLst/>
              <a:gdLst/>
              <a:ahLst/>
              <a:cxnLst/>
              <a:rect r="r" b="b" t="t" l="l"/>
              <a:pathLst>
                <a:path h="1432274" w="1469684">
                  <a:moveTo>
                    <a:pt x="0" y="0"/>
                  </a:moveTo>
                  <a:lnTo>
                    <a:pt x="1469684" y="0"/>
                  </a:lnTo>
                  <a:lnTo>
                    <a:pt x="1469684" y="1432274"/>
                  </a:lnTo>
                  <a:lnTo>
                    <a:pt x="0" y="1432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847387" y="5087085"/>
            <a:ext cx="962864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0"/>
              </a:lnSpc>
              <a:spcBef>
                <a:spcPct val="0"/>
              </a:spcBef>
            </a:pPr>
            <a:r>
              <a:rPr lang="en-US" b="true" sz="5000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Microservices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79535" y="5085597"/>
            <a:ext cx="1717476" cy="1717476"/>
            <a:chOff x="0" y="0"/>
            <a:chExt cx="2289968" cy="228996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289968" cy="228996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558038" y="499064"/>
              <a:ext cx="1173892" cy="1342288"/>
            </a:xfrm>
            <a:custGeom>
              <a:avLst/>
              <a:gdLst/>
              <a:ahLst/>
              <a:cxnLst/>
              <a:rect r="r" b="b" t="t" l="l"/>
              <a:pathLst>
                <a:path h="1342288" w="1173892">
                  <a:moveTo>
                    <a:pt x="0" y="0"/>
                  </a:moveTo>
                  <a:lnTo>
                    <a:pt x="1173892" y="0"/>
                  </a:lnTo>
                  <a:lnTo>
                    <a:pt x="1173892" y="1342287"/>
                  </a:lnTo>
                  <a:lnTo>
                    <a:pt x="0" y="1342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47387" y="2857228"/>
            <a:ext cx="1041191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0"/>
              </a:lnSpc>
              <a:spcBef>
                <a:spcPct val="0"/>
              </a:spcBef>
            </a:pPr>
            <a:r>
              <a:rPr lang="en-US" b="true" sz="5000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Distributed Databases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879535" y="7218717"/>
            <a:ext cx="1717476" cy="1717476"/>
            <a:chOff x="0" y="0"/>
            <a:chExt cx="2289968" cy="228996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289968" cy="2289968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596832" y="495806"/>
              <a:ext cx="1135098" cy="1445148"/>
            </a:xfrm>
            <a:custGeom>
              <a:avLst/>
              <a:gdLst/>
              <a:ahLst/>
              <a:cxnLst/>
              <a:rect r="r" b="b" t="t" l="l"/>
              <a:pathLst>
                <a:path h="1445148" w="1135098">
                  <a:moveTo>
                    <a:pt x="0" y="0"/>
                  </a:moveTo>
                  <a:lnTo>
                    <a:pt x="1135098" y="0"/>
                  </a:lnTo>
                  <a:lnTo>
                    <a:pt x="1135098" y="1445148"/>
                  </a:lnTo>
                  <a:lnTo>
                    <a:pt x="0" y="144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847387" y="3754066"/>
            <a:ext cx="9143062" cy="103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Replication | Database Architecture | Database Models |  Sharding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47387" y="5982435"/>
            <a:ext cx="9143062" cy="103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Microservices Overview | Consistency Challenges | Saga Patterns | Event Driven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47387" y="8115555"/>
            <a:ext cx="9143062" cy="103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Middleware | Edge Databases | Immutable Databases | Change Data Capture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99382" y="-54747"/>
            <a:ext cx="8958965" cy="931304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28012" t="0" r="-2801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259300" y="8127303"/>
            <a:ext cx="1802889" cy="1802889"/>
          </a:xfrm>
          <a:custGeom>
            <a:avLst/>
            <a:gdLst/>
            <a:ahLst/>
            <a:cxnLst/>
            <a:rect r="r" b="b" t="t" l="l"/>
            <a:pathLst>
              <a:path h="1802889" w="1802889">
                <a:moveTo>
                  <a:pt x="0" y="0"/>
                </a:moveTo>
                <a:lnTo>
                  <a:pt x="1802889" y="0"/>
                </a:lnTo>
                <a:lnTo>
                  <a:pt x="1802889" y="1802889"/>
                </a:lnTo>
                <a:lnTo>
                  <a:pt x="0" y="1802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33387" y="-1033334"/>
            <a:ext cx="2293320" cy="2293320"/>
          </a:xfrm>
          <a:custGeom>
            <a:avLst/>
            <a:gdLst/>
            <a:ahLst/>
            <a:cxnLst/>
            <a:rect r="r" b="b" t="t" l="l"/>
            <a:pathLst>
              <a:path h="2293320" w="2293320">
                <a:moveTo>
                  <a:pt x="0" y="0"/>
                </a:moveTo>
                <a:lnTo>
                  <a:pt x="2293320" y="0"/>
                </a:lnTo>
                <a:lnTo>
                  <a:pt x="2293320" y="2293319"/>
                </a:lnTo>
                <a:lnTo>
                  <a:pt x="0" y="2293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43050" y="-54747"/>
            <a:ext cx="2760734" cy="10341747"/>
            <a:chOff x="0" y="0"/>
            <a:chExt cx="727107" cy="27237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7107" cy="2723752"/>
            </a:xfrm>
            <a:custGeom>
              <a:avLst/>
              <a:gdLst/>
              <a:ahLst/>
              <a:cxnLst/>
              <a:rect r="r" b="b" t="t" l="l"/>
              <a:pathLst>
                <a:path h="2723752" w="727107">
                  <a:moveTo>
                    <a:pt x="0" y="0"/>
                  </a:moveTo>
                  <a:lnTo>
                    <a:pt x="727107" y="0"/>
                  </a:lnTo>
                  <a:lnTo>
                    <a:pt x="727107" y="2723752"/>
                  </a:lnTo>
                  <a:lnTo>
                    <a:pt x="0" y="2723752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27107" cy="2761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82418" y="1760435"/>
            <a:ext cx="623517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KEY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110" y="3177755"/>
            <a:ext cx="1212994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7"/>
              </a:lnSpc>
              <a:spcBef>
                <a:spcPct val="0"/>
              </a:spcBef>
            </a:pPr>
            <a:r>
              <a:rPr lang="en-US" b="true" sz="551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6110" y="4632380"/>
            <a:ext cx="1212994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7"/>
              </a:lnSpc>
              <a:spcBef>
                <a:spcPct val="0"/>
              </a:spcBef>
            </a:pPr>
            <a:r>
              <a:rPr lang="en-US" b="true" sz="551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110" y="6083947"/>
            <a:ext cx="1212994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7"/>
              </a:lnSpc>
              <a:spcBef>
                <a:spcPct val="0"/>
              </a:spcBef>
            </a:pPr>
            <a:r>
              <a:rPr lang="en-US" b="true" sz="551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6110" y="7538571"/>
            <a:ext cx="1212994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7"/>
              </a:lnSpc>
              <a:spcBef>
                <a:spcPct val="0"/>
              </a:spcBef>
            </a:pPr>
            <a:r>
              <a:rPr lang="en-US" b="true" sz="551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9104" y="3145768"/>
            <a:ext cx="803708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Database Management - Key pain point for microservices database per service.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59104" y="4596765"/>
            <a:ext cx="926760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Database Replication - Applied only to larger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databases. not edge databases.</a:t>
            </a:r>
          </a:p>
        </p:txBody>
      </p:sp>
      <p:sp>
        <p:nvSpPr>
          <p:cNvPr name="AutoShape 16" id="16"/>
          <p:cNvSpPr/>
          <p:nvPr/>
        </p:nvSpPr>
        <p:spPr>
          <a:xfrm flipH="true" flipV="true">
            <a:off x="1921279" y="4557441"/>
            <a:ext cx="742398" cy="0"/>
          </a:xfrm>
          <a:prstGeom prst="line">
            <a:avLst/>
          </a:prstGeom>
          <a:ln cap="flat" w="57150">
            <a:solidFill>
              <a:srgbClr val="4BD1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1841537" y="5995339"/>
            <a:ext cx="742398" cy="0"/>
          </a:xfrm>
          <a:prstGeom prst="line">
            <a:avLst/>
          </a:prstGeom>
          <a:ln cap="flat" w="57150">
            <a:solidFill>
              <a:srgbClr val="4BD1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1841537" y="7435887"/>
            <a:ext cx="742398" cy="0"/>
          </a:xfrm>
          <a:prstGeom prst="line">
            <a:avLst/>
          </a:prstGeom>
          <a:ln cap="flat" w="57150">
            <a:solidFill>
              <a:srgbClr val="4BD1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2859104" y="6051959"/>
            <a:ext cx="926760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Consistency - A requirement for many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systems across replicas.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59104" y="7580568"/>
            <a:ext cx="926760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Always a Trade-off - Every replication or consistency solution has inherent pros and cons.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7025" y="5034049"/>
            <a:ext cx="4052614" cy="1304618"/>
            <a:chOff x="0" y="0"/>
            <a:chExt cx="4289760" cy="13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9806" cy="1380998"/>
            </a:xfrm>
            <a:custGeom>
              <a:avLst/>
              <a:gdLst/>
              <a:ahLst/>
              <a:cxnLst/>
              <a:rect r="r" b="b" t="t" l="l"/>
              <a:pathLst>
                <a:path h="1380998" w="4289806">
                  <a:moveTo>
                    <a:pt x="4013454" y="876173"/>
                  </a:moveTo>
                  <a:lnTo>
                    <a:pt x="3530854" y="0"/>
                  </a:lnTo>
                  <a:lnTo>
                    <a:pt x="758825" y="0"/>
                  </a:lnTo>
                  <a:lnTo>
                    <a:pt x="279400" y="876173"/>
                  </a:lnTo>
                  <a:lnTo>
                    <a:pt x="0" y="1380998"/>
                  </a:lnTo>
                  <a:lnTo>
                    <a:pt x="4289806" y="1380998"/>
                  </a:lnTo>
                  <a:lnTo>
                    <a:pt x="4013454" y="876173"/>
                  </a:lnTo>
                  <a:close/>
                </a:path>
              </a:pathLst>
            </a:custGeom>
            <a:solidFill>
              <a:srgbClr val="4BD1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28846" y="2553370"/>
            <a:ext cx="2531693" cy="2387491"/>
            <a:chOff x="0" y="0"/>
            <a:chExt cx="2679840" cy="252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79827" cy="2527173"/>
            </a:xfrm>
            <a:custGeom>
              <a:avLst/>
              <a:gdLst/>
              <a:ahLst/>
              <a:cxnLst/>
              <a:rect r="r" b="b" t="t" l="l"/>
              <a:pathLst>
                <a:path h="2527173" w="2679827">
                  <a:moveTo>
                    <a:pt x="1343152" y="0"/>
                  </a:moveTo>
                  <a:lnTo>
                    <a:pt x="0" y="2527173"/>
                  </a:lnTo>
                  <a:lnTo>
                    <a:pt x="2679827" y="2527173"/>
                  </a:lnTo>
                  <a:lnTo>
                    <a:pt x="1343152" y="0"/>
                  </a:lnTo>
                  <a:close/>
                </a:path>
              </a:pathLst>
            </a:custGeom>
            <a:solidFill>
              <a:srgbClr val="CFF4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78776" y="7868430"/>
            <a:ext cx="7426391" cy="1436576"/>
            <a:chOff x="0" y="0"/>
            <a:chExt cx="7860960" cy="1520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0919" cy="1520698"/>
            </a:xfrm>
            <a:custGeom>
              <a:avLst/>
              <a:gdLst/>
              <a:ahLst/>
              <a:cxnLst/>
              <a:rect r="r" b="b" t="t" l="l"/>
              <a:pathLst>
                <a:path h="1520698" w="7860919">
                  <a:moveTo>
                    <a:pt x="879475" y="0"/>
                  </a:moveTo>
                  <a:lnTo>
                    <a:pt x="0" y="1520698"/>
                  </a:lnTo>
                  <a:lnTo>
                    <a:pt x="3933698" y="1520698"/>
                  </a:lnTo>
                  <a:lnTo>
                    <a:pt x="7860919" y="1520698"/>
                  </a:lnTo>
                  <a:lnTo>
                    <a:pt x="6981571" y="0"/>
                  </a:lnTo>
                  <a:lnTo>
                    <a:pt x="879475" y="0"/>
                  </a:lnTo>
                  <a:close/>
                </a:path>
              </a:pathLst>
            </a:custGeom>
            <a:solidFill>
              <a:srgbClr val="0071C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75276" y="6446818"/>
            <a:ext cx="5638833" cy="1301897"/>
            <a:chOff x="0" y="0"/>
            <a:chExt cx="5968800" cy="1378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8746" cy="1378077"/>
            </a:xfrm>
            <a:custGeom>
              <a:avLst/>
              <a:gdLst/>
              <a:ahLst/>
              <a:cxnLst/>
              <a:rect r="r" b="b" t="t" l="l"/>
              <a:pathLst>
                <a:path h="1378077" w="5968746">
                  <a:moveTo>
                    <a:pt x="5194173" y="0"/>
                  </a:moveTo>
                  <a:lnTo>
                    <a:pt x="774700" y="0"/>
                  </a:lnTo>
                  <a:lnTo>
                    <a:pt x="0" y="1378077"/>
                  </a:lnTo>
                  <a:lnTo>
                    <a:pt x="5968746" y="1378077"/>
                  </a:lnTo>
                  <a:lnTo>
                    <a:pt x="5194173" y="0"/>
                  </a:lnTo>
                  <a:close/>
                </a:path>
              </a:pathLst>
            </a:custGeom>
            <a:solidFill>
              <a:srgbClr val="56AE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406607" y="5137324"/>
            <a:ext cx="1039553" cy="1039553"/>
          </a:xfrm>
          <a:custGeom>
            <a:avLst/>
            <a:gdLst/>
            <a:ahLst/>
            <a:cxnLst/>
            <a:rect r="r" b="b" t="t" l="l"/>
            <a:pathLst>
              <a:path h="1039553" w="1039553">
                <a:moveTo>
                  <a:pt x="0" y="0"/>
                </a:moveTo>
                <a:lnTo>
                  <a:pt x="1039553" y="0"/>
                </a:lnTo>
                <a:lnTo>
                  <a:pt x="1039553" y="1039553"/>
                </a:lnTo>
                <a:lnTo>
                  <a:pt x="0" y="1039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06607" y="6658671"/>
            <a:ext cx="1170730" cy="889755"/>
          </a:xfrm>
          <a:custGeom>
            <a:avLst/>
            <a:gdLst/>
            <a:ahLst/>
            <a:cxnLst/>
            <a:rect r="r" b="b" t="t" l="l"/>
            <a:pathLst>
              <a:path h="889755" w="1170730">
                <a:moveTo>
                  <a:pt x="0" y="0"/>
                </a:moveTo>
                <a:lnTo>
                  <a:pt x="1170730" y="0"/>
                </a:lnTo>
                <a:lnTo>
                  <a:pt x="1170730" y="889754"/>
                </a:lnTo>
                <a:lnTo>
                  <a:pt x="0" y="889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94719" y="8019650"/>
            <a:ext cx="1394505" cy="1134135"/>
          </a:xfrm>
          <a:custGeom>
            <a:avLst/>
            <a:gdLst/>
            <a:ahLst/>
            <a:cxnLst/>
            <a:rect r="r" b="b" t="t" l="l"/>
            <a:pathLst>
              <a:path h="1134135" w="1394505">
                <a:moveTo>
                  <a:pt x="0" y="0"/>
                </a:moveTo>
                <a:lnTo>
                  <a:pt x="1394506" y="0"/>
                </a:lnTo>
                <a:lnTo>
                  <a:pt x="1394506" y="1134135"/>
                </a:lnTo>
                <a:lnTo>
                  <a:pt x="0" y="11341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91874" y="3478367"/>
            <a:ext cx="1085463" cy="1085463"/>
          </a:xfrm>
          <a:custGeom>
            <a:avLst/>
            <a:gdLst/>
            <a:ahLst/>
            <a:cxnLst/>
            <a:rect r="r" b="b" t="t" l="l"/>
            <a:pathLst>
              <a:path h="1085463" w="1085463">
                <a:moveTo>
                  <a:pt x="0" y="0"/>
                </a:moveTo>
                <a:lnTo>
                  <a:pt x="1085463" y="0"/>
                </a:lnTo>
                <a:lnTo>
                  <a:pt x="1085463" y="1085463"/>
                </a:lnTo>
                <a:lnTo>
                  <a:pt x="0" y="10854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507380"/>
            <a:ext cx="14944487" cy="192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2"/>
              </a:lnSpc>
              <a:spcBef>
                <a:spcPct val="0"/>
              </a:spcBef>
            </a:pPr>
            <a:r>
              <a:rPr lang="en-US" b="true" sz="6268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Project Design - Database Management System Middleware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5799" y="3195900"/>
            <a:ext cx="1212994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7"/>
              </a:lnSpc>
              <a:spcBef>
                <a:spcPct val="0"/>
              </a:spcBef>
            </a:pPr>
            <a:r>
              <a:rPr lang="en-US" b="true" sz="551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5799" y="4650524"/>
            <a:ext cx="1212994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7"/>
              </a:lnSpc>
              <a:spcBef>
                <a:spcPct val="0"/>
              </a:spcBef>
            </a:pPr>
            <a:r>
              <a:rPr lang="en-US" b="true" sz="551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95799" y="6102091"/>
            <a:ext cx="1212994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7"/>
              </a:lnSpc>
              <a:spcBef>
                <a:spcPct val="0"/>
              </a:spcBef>
            </a:pPr>
            <a:r>
              <a:rPr lang="en-US" b="true" sz="551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5799" y="7556716"/>
            <a:ext cx="1212994" cy="9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7"/>
              </a:lnSpc>
              <a:spcBef>
                <a:spcPct val="0"/>
              </a:spcBef>
            </a:pPr>
            <a:r>
              <a:rPr lang="en-US" b="true" sz="551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128164" y="-2586935"/>
            <a:ext cx="5956513" cy="5956513"/>
          </a:xfrm>
          <a:custGeom>
            <a:avLst/>
            <a:gdLst/>
            <a:ahLst/>
            <a:cxnLst/>
            <a:rect r="r" b="b" t="t" l="l"/>
            <a:pathLst>
              <a:path h="5956513" w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3359890" y="7239384"/>
            <a:ext cx="5956513" cy="5956513"/>
          </a:xfrm>
          <a:custGeom>
            <a:avLst/>
            <a:gdLst/>
            <a:ahLst/>
            <a:cxnLst/>
            <a:rect r="r" b="b" t="t" l="l"/>
            <a:pathLst>
              <a:path h="5956513" w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908793" y="3163912"/>
            <a:ext cx="803708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Database Management - add databases and provide a central hub for database admin.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08793" y="4596765"/>
            <a:ext cx="926760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Database Replication - Provide Replication for small databases attached to Microservices.</a:t>
            </a:r>
          </a:p>
        </p:txBody>
      </p:sp>
      <p:sp>
        <p:nvSpPr>
          <p:cNvPr name="AutoShape 23" id="23"/>
          <p:cNvSpPr/>
          <p:nvPr/>
        </p:nvSpPr>
        <p:spPr>
          <a:xfrm flipH="true" flipV="true">
            <a:off x="1970968" y="4575585"/>
            <a:ext cx="742398" cy="0"/>
          </a:xfrm>
          <a:prstGeom prst="line">
            <a:avLst/>
          </a:prstGeom>
          <a:ln cap="flat" w="57150">
            <a:solidFill>
              <a:srgbClr val="4BD1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1891226" y="6013484"/>
            <a:ext cx="742398" cy="0"/>
          </a:xfrm>
          <a:prstGeom prst="line">
            <a:avLst/>
          </a:prstGeom>
          <a:ln cap="flat" w="57150">
            <a:solidFill>
              <a:srgbClr val="4BD1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 flipV="true">
            <a:off x="1891226" y="7454031"/>
            <a:ext cx="742398" cy="0"/>
          </a:xfrm>
          <a:prstGeom prst="line">
            <a:avLst/>
          </a:prstGeom>
          <a:ln cap="flat" w="57150">
            <a:solidFill>
              <a:srgbClr val="4BD1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908793" y="6070104"/>
            <a:ext cx="926760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Consistency Strategies - Ability to apply consistency strategy to a database.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08793" y="7472915"/>
            <a:ext cx="926760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Replication Sync Checker - Checking of data consistency between replications.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860032"/>
          </a:xfrm>
          <a:custGeom>
            <a:avLst/>
            <a:gdLst/>
            <a:ahLst/>
            <a:cxnLst/>
            <a:rect r="r" b="b" t="t" l="l"/>
            <a:pathLst>
              <a:path h="3860032" w="18288000">
                <a:moveTo>
                  <a:pt x="0" y="0"/>
                </a:moveTo>
                <a:lnTo>
                  <a:pt x="18288000" y="0"/>
                </a:lnTo>
                <a:lnTo>
                  <a:pt x="18288000" y="3860032"/>
                </a:lnTo>
                <a:lnTo>
                  <a:pt x="0" y="3860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827" r="0" b="-1078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8366" y="0"/>
            <a:ext cx="9658350" cy="10287000"/>
            <a:chOff x="0" y="0"/>
            <a:chExt cx="254376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37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3763">
                  <a:moveTo>
                    <a:pt x="0" y="0"/>
                  </a:moveTo>
                  <a:lnTo>
                    <a:pt x="2543763" y="0"/>
                  </a:lnTo>
                  <a:lnTo>
                    <a:pt x="25437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4376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8371" y="3712151"/>
            <a:ext cx="17851258" cy="1718184"/>
          </a:xfrm>
          <a:custGeom>
            <a:avLst/>
            <a:gdLst/>
            <a:ahLst/>
            <a:cxnLst/>
            <a:rect r="r" b="b" t="t" l="l"/>
            <a:pathLst>
              <a:path h="1718184" w="17851258">
                <a:moveTo>
                  <a:pt x="0" y="0"/>
                </a:moveTo>
                <a:lnTo>
                  <a:pt x="17851258" y="0"/>
                </a:lnTo>
                <a:lnTo>
                  <a:pt x="17851258" y="1718184"/>
                </a:lnTo>
                <a:lnTo>
                  <a:pt x="0" y="1718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21151" y="677227"/>
            <a:ext cx="824569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87"/>
              </a:lnSpc>
              <a:spcBef>
                <a:spcPct val="0"/>
              </a:spcBef>
            </a:pPr>
            <a:r>
              <a:rPr lang="en-US" b="true" sz="473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Prototype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31136" y="1332548"/>
            <a:ext cx="9485580" cy="208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Prototype allowed databases to be added to the system, and then revealed an issue with the connectivity of external middleware to Edge Databases.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44751" y="5668718"/>
            <a:ext cx="9485580" cy="417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work around was found for H2 databases, however, this brought up a fundamental issue with the plan of creating a generic “Silver Bullet Solution”.</a:t>
            </a:r>
          </a:p>
          <a:p>
            <a:pPr algn="ctr">
              <a:lnSpc>
                <a:spcPts val="4140"/>
              </a:lnSpc>
            </a:pPr>
          </a:p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Therefore a pivot towards creation of a database system that satisfys the requirements of data consistency and connectivity that a microservice management system requires.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13163">
            <a:off x="-4261137" y="6573910"/>
            <a:ext cx="9085628" cy="5368780"/>
          </a:xfrm>
          <a:custGeom>
            <a:avLst/>
            <a:gdLst/>
            <a:ahLst/>
            <a:cxnLst/>
            <a:rect r="r" b="b" t="t" l="l"/>
            <a:pathLst>
              <a:path h="5368780" w="9085628">
                <a:moveTo>
                  <a:pt x="0" y="0"/>
                </a:moveTo>
                <a:lnTo>
                  <a:pt x="9085628" y="0"/>
                </a:lnTo>
                <a:lnTo>
                  <a:pt x="9085628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33851" y="8541420"/>
            <a:ext cx="3711992" cy="321151"/>
          </a:xfrm>
          <a:custGeom>
            <a:avLst/>
            <a:gdLst/>
            <a:ahLst/>
            <a:cxnLst/>
            <a:rect r="r" b="b" t="t" l="l"/>
            <a:pathLst>
              <a:path h="321151" w="3711992">
                <a:moveTo>
                  <a:pt x="0" y="0"/>
                </a:moveTo>
                <a:lnTo>
                  <a:pt x="3711992" y="0"/>
                </a:lnTo>
                <a:lnTo>
                  <a:pt x="3711992" y="321150"/>
                </a:lnTo>
                <a:lnTo>
                  <a:pt x="0" y="32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1209" r="0" b="-70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86403" y="8541420"/>
            <a:ext cx="3711992" cy="321151"/>
          </a:xfrm>
          <a:custGeom>
            <a:avLst/>
            <a:gdLst/>
            <a:ahLst/>
            <a:cxnLst/>
            <a:rect r="r" b="b" t="t" l="l"/>
            <a:pathLst>
              <a:path h="321151" w="3711992">
                <a:moveTo>
                  <a:pt x="0" y="0"/>
                </a:moveTo>
                <a:lnTo>
                  <a:pt x="3711993" y="0"/>
                </a:lnTo>
                <a:lnTo>
                  <a:pt x="3711993" y="321150"/>
                </a:lnTo>
                <a:lnTo>
                  <a:pt x="0" y="32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1209" r="0" b="-706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42157" y="8541420"/>
            <a:ext cx="3711992" cy="321151"/>
          </a:xfrm>
          <a:custGeom>
            <a:avLst/>
            <a:gdLst/>
            <a:ahLst/>
            <a:cxnLst/>
            <a:rect r="r" b="b" t="t" l="l"/>
            <a:pathLst>
              <a:path h="321151" w="3711992">
                <a:moveTo>
                  <a:pt x="0" y="0"/>
                </a:moveTo>
                <a:lnTo>
                  <a:pt x="3711992" y="0"/>
                </a:lnTo>
                <a:lnTo>
                  <a:pt x="3711992" y="321150"/>
                </a:lnTo>
                <a:lnTo>
                  <a:pt x="0" y="32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1209" r="0" b="-706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53410" y="5374932"/>
            <a:ext cx="3692433" cy="3166488"/>
            <a:chOff x="0" y="0"/>
            <a:chExt cx="1131733" cy="9705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1733" cy="970530"/>
            </a:xfrm>
            <a:custGeom>
              <a:avLst/>
              <a:gdLst/>
              <a:ahLst/>
              <a:cxnLst/>
              <a:rect r="r" b="b" t="t" l="l"/>
              <a:pathLst>
                <a:path h="970530" w="1131733">
                  <a:moveTo>
                    <a:pt x="0" y="0"/>
                  </a:moveTo>
                  <a:lnTo>
                    <a:pt x="1131733" y="0"/>
                  </a:lnTo>
                  <a:lnTo>
                    <a:pt x="1131733" y="970530"/>
                  </a:lnTo>
                  <a:lnTo>
                    <a:pt x="0" y="970530"/>
                  </a:lnTo>
                  <a:close/>
                </a:path>
              </a:pathLst>
            </a:custGeom>
            <a:solidFill>
              <a:srgbClr val="CFF4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31733" cy="1008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94577" y="5374932"/>
            <a:ext cx="3692433" cy="3166488"/>
            <a:chOff x="0" y="0"/>
            <a:chExt cx="1131733" cy="9705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1733" cy="970530"/>
            </a:xfrm>
            <a:custGeom>
              <a:avLst/>
              <a:gdLst/>
              <a:ahLst/>
              <a:cxnLst/>
              <a:rect r="r" b="b" t="t" l="l"/>
              <a:pathLst>
                <a:path h="970530" w="1131733">
                  <a:moveTo>
                    <a:pt x="0" y="0"/>
                  </a:moveTo>
                  <a:lnTo>
                    <a:pt x="1131733" y="0"/>
                  </a:lnTo>
                  <a:lnTo>
                    <a:pt x="1131733" y="970530"/>
                  </a:lnTo>
                  <a:lnTo>
                    <a:pt x="0" y="970530"/>
                  </a:lnTo>
                  <a:close/>
                </a:path>
              </a:pathLst>
            </a:custGeom>
            <a:solidFill>
              <a:srgbClr val="CFF4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31733" cy="1008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338956" y="5374932"/>
            <a:ext cx="3692433" cy="3166488"/>
            <a:chOff x="0" y="0"/>
            <a:chExt cx="1131733" cy="9705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1733" cy="970530"/>
            </a:xfrm>
            <a:custGeom>
              <a:avLst/>
              <a:gdLst/>
              <a:ahLst/>
              <a:cxnLst/>
              <a:rect r="r" b="b" t="t" l="l"/>
              <a:pathLst>
                <a:path h="970530" w="1131733">
                  <a:moveTo>
                    <a:pt x="0" y="0"/>
                  </a:moveTo>
                  <a:lnTo>
                    <a:pt x="1131733" y="0"/>
                  </a:lnTo>
                  <a:lnTo>
                    <a:pt x="1131733" y="970530"/>
                  </a:lnTo>
                  <a:lnTo>
                    <a:pt x="0" y="970530"/>
                  </a:lnTo>
                  <a:close/>
                </a:path>
              </a:pathLst>
            </a:custGeom>
            <a:solidFill>
              <a:srgbClr val="CFF4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31733" cy="1008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1313163">
            <a:off x="14330817" y="-1655690"/>
            <a:ext cx="9085628" cy="5368780"/>
          </a:xfrm>
          <a:custGeom>
            <a:avLst/>
            <a:gdLst/>
            <a:ahLst/>
            <a:cxnLst/>
            <a:rect r="r" b="b" t="t" l="l"/>
            <a:pathLst>
              <a:path h="5368780" w="9085628">
                <a:moveTo>
                  <a:pt x="0" y="0"/>
                </a:moveTo>
                <a:lnTo>
                  <a:pt x="9085629" y="0"/>
                </a:lnTo>
                <a:lnTo>
                  <a:pt x="9085629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11718" y="1028700"/>
            <a:ext cx="10264563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Revised Project Pivot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45590" y="2056640"/>
            <a:ext cx="10596820" cy="260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New Project Proposal to create an immutable database or database wrapper that has in built logging and replication.</a:t>
            </a:r>
          </a:p>
          <a:p>
            <a:pPr algn="ctr">
              <a:lnSpc>
                <a:spcPts val="4140"/>
              </a:lnSpc>
            </a:pPr>
          </a:p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Middleware management system still under consideration to takle the issue of database administration.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25012" y="7444127"/>
            <a:ext cx="2949228" cy="6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7"/>
              </a:lnSpc>
              <a:spcBef>
                <a:spcPct val="0"/>
              </a:spcBef>
            </a:pPr>
            <a:r>
              <a:rPr lang="en-US" b="true" sz="1976">
                <a:solidFill>
                  <a:srgbClr val="0071C9"/>
                </a:solidFill>
                <a:latin typeface="DM Sans Bold"/>
                <a:ea typeface="DM Sans Bold"/>
                <a:cs typeface="DM Sans Bold"/>
                <a:sym typeface="DM Sans Bold"/>
              </a:rPr>
              <a:t>Strong Data Consistency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13323" y="7616008"/>
            <a:ext cx="2058153" cy="32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7"/>
              </a:lnSpc>
              <a:spcBef>
                <a:spcPct val="0"/>
              </a:spcBef>
            </a:pPr>
            <a:r>
              <a:rPr lang="en-US" b="true" sz="1976">
                <a:solidFill>
                  <a:srgbClr val="F1945B"/>
                </a:solidFill>
                <a:latin typeface="DM Sans Bold"/>
                <a:ea typeface="DM Sans Bold"/>
                <a:cs typeface="DM Sans Bold"/>
                <a:sym typeface="DM Sans Bold"/>
              </a:rPr>
              <a:t>Immutable Data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488526" y="5725935"/>
            <a:ext cx="1202642" cy="1202642"/>
          </a:xfrm>
          <a:custGeom>
            <a:avLst/>
            <a:gdLst/>
            <a:ahLst/>
            <a:cxnLst/>
            <a:rect r="r" b="b" t="t" l="l"/>
            <a:pathLst>
              <a:path h="1202642" w="1202642">
                <a:moveTo>
                  <a:pt x="0" y="0"/>
                </a:moveTo>
                <a:lnTo>
                  <a:pt x="1202642" y="0"/>
                </a:lnTo>
                <a:lnTo>
                  <a:pt x="1202642" y="1202642"/>
                </a:lnTo>
                <a:lnTo>
                  <a:pt x="0" y="12026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73413" y="5781905"/>
            <a:ext cx="823519" cy="1146672"/>
          </a:xfrm>
          <a:custGeom>
            <a:avLst/>
            <a:gdLst/>
            <a:ahLst/>
            <a:cxnLst/>
            <a:rect r="r" b="b" t="t" l="l"/>
            <a:pathLst>
              <a:path h="1146672" w="823519">
                <a:moveTo>
                  <a:pt x="0" y="0"/>
                </a:moveTo>
                <a:lnTo>
                  <a:pt x="823519" y="0"/>
                </a:lnTo>
                <a:lnTo>
                  <a:pt x="823519" y="1146672"/>
                </a:lnTo>
                <a:lnTo>
                  <a:pt x="0" y="11466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503759" y="5633314"/>
            <a:ext cx="1274068" cy="1295263"/>
          </a:xfrm>
          <a:custGeom>
            <a:avLst/>
            <a:gdLst/>
            <a:ahLst/>
            <a:cxnLst/>
            <a:rect r="r" b="b" t="t" l="l"/>
            <a:pathLst>
              <a:path h="1295263" w="1274068">
                <a:moveTo>
                  <a:pt x="0" y="0"/>
                </a:moveTo>
                <a:lnTo>
                  <a:pt x="1274068" y="0"/>
                </a:lnTo>
                <a:lnTo>
                  <a:pt x="1274068" y="1295263"/>
                </a:lnTo>
                <a:lnTo>
                  <a:pt x="0" y="12952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169076" y="7272247"/>
            <a:ext cx="2058153" cy="101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7"/>
              </a:lnSpc>
              <a:spcBef>
                <a:spcPct val="0"/>
              </a:spcBef>
            </a:pPr>
            <a:r>
              <a:rPr lang="en-US" b="true" sz="1976">
                <a:solidFill>
                  <a:srgbClr val="39B54A"/>
                </a:solidFill>
                <a:latin typeface="DM Sans Bold"/>
                <a:ea typeface="DM Sans Bold"/>
                <a:cs typeface="DM Sans Bold"/>
                <a:sym typeface="DM Sans Bold"/>
              </a:rPr>
              <a:t>Asynchronous Master - Master Replication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7814883" y="-11116"/>
            <a:ext cx="15067628" cy="10298116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78535" y="1813974"/>
            <a:ext cx="13730929" cy="6659052"/>
          </a:xfrm>
          <a:custGeom>
            <a:avLst/>
            <a:gdLst/>
            <a:ahLst/>
            <a:cxnLst/>
            <a:rect r="r" b="b" t="t" l="l"/>
            <a:pathLst>
              <a:path h="6659052" w="13730929">
                <a:moveTo>
                  <a:pt x="0" y="0"/>
                </a:moveTo>
                <a:lnTo>
                  <a:pt x="13730930" y="0"/>
                </a:lnTo>
                <a:lnTo>
                  <a:pt x="13730930" y="6659052"/>
                </a:lnTo>
                <a:lnTo>
                  <a:pt x="0" y="6659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16716" y="567690"/>
            <a:ext cx="14054567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DAGYc-nYgoM</dc:identifier>
  <dcterms:modified xsi:type="dcterms:W3CDTF">2011-08-01T06:04:30Z</dcterms:modified>
  <cp:revision>1</cp:revision>
  <dc:title>FYP Presentation - Adam O’Mahony T00227115</dc:title>
</cp:coreProperties>
</file>