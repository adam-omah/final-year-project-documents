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x="18288000" cy="10287000"/>
  <p:notesSz cx="6858000" cy="9144000"/>
  <p:embeddedFontLst>
    <p:embeddedFont>
      <p:font typeface="DM Sans Italics" charset="1" panose="00000000000000000000"/>
      <p:regular r:id="rId13"/>
    </p:embeddedFont>
    <p:embeddedFont>
      <p:font typeface="Now Bold" charset="1" panose="00000800000000000000"/>
      <p:regular r:id="rId14"/>
    </p:embeddedFont>
    <p:embeddedFont>
      <p:font typeface="Now" charset="1" panose="00000500000000000000"/>
      <p:regular r:id="rId15"/>
    </p:embeddedFont>
    <p:embeddedFont>
      <p:font typeface="DM Sans Bold" charset="1" panose="00000000000000000000"/>
      <p:regular r:id="rId16"/>
    </p:embeddedFont>
    <p:embeddedFont>
      <p:font typeface="DM Sans" charset="1" panose="00000000000000000000"/>
      <p:regular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fonts/font13.fntdata" Type="http://schemas.openxmlformats.org/officeDocument/2006/relationships/font"/><Relationship Id="rId14" Target="fonts/font14.fntdata" Type="http://schemas.openxmlformats.org/officeDocument/2006/relationships/font"/><Relationship Id="rId15" Target="fonts/font15.fntdata" Type="http://schemas.openxmlformats.org/officeDocument/2006/relationships/font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jpe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Relationship Id="rId3" Target="../media/image5.svg" Type="http://schemas.openxmlformats.org/officeDocument/2006/relationships/image"/><Relationship Id="rId4" Target="../media/image6.png" Type="http://schemas.openxmlformats.org/officeDocument/2006/relationships/image"/><Relationship Id="rId5" Target="../media/image7.jpe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6.svg" Type="http://schemas.openxmlformats.org/officeDocument/2006/relationships/image"/><Relationship Id="rId11" Target="../media/image17.png" Type="http://schemas.openxmlformats.org/officeDocument/2006/relationships/image"/><Relationship Id="rId12" Target="../media/image18.svg" Type="http://schemas.openxmlformats.org/officeDocument/2006/relationships/image"/><Relationship Id="rId2" Target="../media/image8.jpeg" Type="http://schemas.openxmlformats.org/officeDocument/2006/relationships/image"/><Relationship Id="rId3" Target="../media/image9.png" Type="http://schemas.openxmlformats.org/officeDocument/2006/relationships/image"/><Relationship Id="rId4" Target="../media/image10.svg" Type="http://schemas.openxmlformats.org/officeDocument/2006/relationships/image"/><Relationship Id="rId5" Target="../media/image11.png" Type="http://schemas.openxmlformats.org/officeDocument/2006/relationships/image"/><Relationship Id="rId6" Target="../media/image12.svg" Type="http://schemas.openxmlformats.org/officeDocument/2006/relationships/image"/><Relationship Id="rId7" Target="../media/image13.png" Type="http://schemas.openxmlformats.org/officeDocument/2006/relationships/image"/><Relationship Id="rId8" Target="../media/image14.svg" Type="http://schemas.openxmlformats.org/officeDocument/2006/relationships/image"/><Relationship Id="rId9" Target="../media/image15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7.png" Type="http://schemas.openxmlformats.org/officeDocument/2006/relationships/image"/><Relationship Id="rId11" Target="../media/image28.svg" Type="http://schemas.openxmlformats.org/officeDocument/2006/relationships/image"/><Relationship Id="rId2" Target="../media/image19.png" Type="http://schemas.openxmlformats.org/officeDocument/2006/relationships/image"/><Relationship Id="rId3" Target="../media/image20.svg" Type="http://schemas.openxmlformats.org/officeDocument/2006/relationships/image"/><Relationship Id="rId4" Target="../media/image21.png" Type="http://schemas.openxmlformats.org/officeDocument/2006/relationships/image"/><Relationship Id="rId5" Target="../media/image22.svg" Type="http://schemas.openxmlformats.org/officeDocument/2006/relationships/image"/><Relationship Id="rId6" Target="../media/image23.png" Type="http://schemas.openxmlformats.org/officeDocument/2006/relationships/image"/><Relationship Id="rId7" Target="../media/image24.svg" Type="http://schemas.openxmlformats.org/officeDocument/2006/relationships/image"/><Relationship Id="rId8" Target="../media/image25.png" Type="http://schemas.openxmlformats.org/officeDocument/2006/relationships/image"/><Relationship Id="rId9" Target="../media/image26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jpeg" Type="http://schemas.openxmlformats.org/officeDocument/2006/relationships/image"/><Relationship Id="rId3" Target="../media/image30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8.svg" Type="http://schemas.openxmlformats.org/officeDocument/2006/relationships/image"/><Relationship Id="rId2" Target="../media/image31.png" Type="http://schemas.openxmlformats.org/officeDocument/2006/relationships/image"/><Relationship Id="rId3" Target="../media/image32.svg" Type="http://schemas.openxmlformats.org/officeDocument/2006/relationships/image"/><Relationship Id="rId4" Target="../media/image6.png" Type="http://schemas.openxmlformats.org/officeDocument/2006/relationships/image"/><Relationship Id="rId5" Target="../media/image33.png" Type="http://schemas.openxmlformats.org/officeDocument/2006/relationships/image"/><Relationship Id="rId6" Target="../media/image34.svg" Type="http://schemas.openxmlformats.org/officeDocument/2006/relationships/image"/><Relationship Id="rId7" Target="../media/image35.png" Type="http://schemas.openxmlformats.org/officeDocument/2006/relationships/image"/><Relationship Id="rId8" Target="../media/image36.svg" Type="http://schemas.openxmlformats.org/officeDocument/2006/relationships/image"/><Relationship Id="rId9" Target="../media/image37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9.jpeg" Type="http://schemas.openxmlformats.org/officeDocument/2006/relationships/image"/><Relationship Id="rId3" Target="../media/image40.png" Type="http://schemas.openxmlformats.org/officeDocument/2006/relationships/image"/><Relationship Id="rId4" Target="../media/image41.svg" Type="http://schemas.openxmlformats.org/officeDocument/2006/relationships/image"/><Relationship Id="rId5" Target="../media/image42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51D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-5400000">
            <a:off x="11392544" y="4154952"/>
            <a:ext cx="11958151" cy="1929323"/>
            <a:chOff x="0" y="0"/>
            <a:chExt cx="3149472" cy="50813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149472" cy="508135"/>
            </a:xfrm>
            <a:custGeom>
              <a:avLst/>
              <a:gdLst/>
              <a:ahLst/>
              <a:cxnLst/>
              <a:rect r="r" b="b" t="t" l="l"/>
              <a:pathLst>
                <a:path h="508135" w="3149472">
                  <a:moveTo>
                    <a:pt x="0" y="0"/>
                  </a:moveTo>
                  <a:lnTo>
                    <a:pt x="3149472" y="0"/>
                  </a:lnTo>
                  <a:lnTo>
                    <a:pt x="3149472" y="508135"/>
                  </a:lnTo>
                  <a:lnTo>
                    <a:pt x="0" y="508135"/>
                  </a:lnTo>
                  <a:close/>
                </a:path>
              </a:pathLst>
            </a:custGeom>
            <a:solidFill>
              <a:srgbClr val="145DA0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28575"/>
              <a:ext cx="3149472" cy="53671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90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1208957" y="-1011147"/>
            <a:ext cx="2647750" cy="2647750"/>
          </a:xfrm>
          <a:custGeom>
            <a:avLst/>
            <a:gdLst/>
            <a:ahLst/>
            <a:cxnLst/>
            <a:rect r="r" b="b" t="t" l="l"/>
            <a:pathLst>
              <a:path h="2647750" w="2647750">
                <a:moveTo>
                  <a:pt x="0" y="0"/>
                </a:moveTo>
                <a:lnTo>
                  <a:pt x="2647750" y="0"/>
                </a:lnTo>
                <a:lnTo>
                  <a:pt x="2647750" y="2647750"/>
                </a:lnTo>
                <a:lnTo>
                  <a:pt x="0" y="264775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10380940" y="649592"/>
            <a:ext cx="7516996" cy="8987817"/>
            <a:chOff x="0" y="0"/>
            <a:chExt cx="8603361" cy="1028674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-2794" y="-127"/>
              <a:ext cx="8606155" cy="10286873"/>
            </a:xfrm>
            <a:custGeom>
              <a:avLst/>
              <a:gdLst/>
              <a:ahLst/>
              <a:cxnLst/>
              <a:rect r="r" b="b" t="t" l="l"/>
              <a:pathLst>
                <a:path h="10286873" w="8606155">
                  <a:moveTo>
                    <a:pt x="8606155" y="10251440"/>
                  </a:moveTo>
                  <a:cubicBezTo>
                    <a:pt x="8606155" y="10284587"/>
                    <a:pt x="8595487" y="10286873"/>
                    <a:pt x="8567674" y="10286873"/>
                  </a:cubicBezTo>
                  <a:cubicBezTo>
                    <a:pt x="5713095" y="10286238"/>
                    <a:pt x="2858643" y="10286238"/>
                    <a:pt x="4064" y="10286238"/>
                  </a:cubicBezTo>
                  <a:cubicBezTo>
                    <a:pt x="0" y="10272395"/>
                    <a:pt x="6350" y="10259822"/>
                    <a:pt x="9271" y="10246995"/>
                  </a:cubicBezTo>
                  <a:cubicBezTo>
                    <a:pt x="134747" y="9685401"/>
                    <a:pt x="260350" y="9123934"/>
                    <a:pt x="386207" y="8562467"/>
                  </a:cubicBezTo>
                  <a:cubicBezTo>
                    <a:pt x="565658" y="7761986"/>
                    <a:pt x="745490" y="6961632"/>
                    <a:pt x="924814" y="6161151"/>
                  </a:cubicBezTo>
                  <a:cubicBezTo>
                    <a:pt x="1146302" y="5172583"/>
                    <a:pt x="1367282" y="4184015"/>
                    <a:pt x="1588643" y="3195574"/>
                  </a:cubicBezTo>
                  <a:cubicBezTo>
                    <a:pt x="1813560" y="2191385"/>
                    <a:pt x="2038604" y="1187323"/>
                    <a:pt x="2264156" y="183261"/>
                  </a:cubicBezTo>
                  <a:cubicBezTo>
                    <a:pt x="2277872" y="122174"/>
                    <a:pt x="2286635" y="59690"/>
                    <a:pt x="2308860" y="635"/>
                  </a:cubicBezTo>
                  <a:cubicBezTo>
                    <a:pt x="4395216" y="635"/>
                    <a:pt x="6481572" y="635"/>
                    <a:pt x="8567928" y="0"/>
                  </a:cubicBezTo>
                  <a:cubicBezTo>
                    <a:pt x="8596249" y="0"/>
                    <a:pt x="8605901" y="3429"/>
                    <a:pt x="8605901" y="35814"/>
                  </a:cubicBezTo>
                  <a:cubicBezTo>
                    <a:pt x="8605139" y="3441065"/>
                    <a:pt x="8605139" y="6846316"/>
                    <a:pt x="8606155" y="10251440"/>
                  </a:cubicBezTo>
                  <a:close/>
                </a:path>
              </a:pathLst>
            </a:custGeom>
            <a:blipFill>
              <a:blip r:embed="rId4"/>
              <a:stretch>
                <a:fillRect l="0" t="-12765" r="0" b="-12765"/>
              </a:stretch>
            </a:blipFill>
          </p:spPr>
        </p:sp>
      </p:grpSp>
      <p:sp>
        <p:nvSpPr>
          <p:cNvPr name="TextBox 8" id="8"/>
          <p:cNvSpPr txBox="true"/>
          <p:nvPr/>
        </p:nvSpPr>
        <p:spPr>
          <a:xfrm rot="0">
            <a:off x="1573748" y="7036704"/>
            <a:ext cx="7913921" cy="4628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727"/>
              </a:lnSpc>
              <a:spcBef>
                <a:spcPct val="0"/>
              </a:spcBef>
            </a:pPr>
            <a:r>
              <a:rPr lang="en-US" sz="3030" i="true">
                <a:solidFill>
                  <a:srgbClr val="56AEFF"/>
                </a:solidFill>
                <a:latin typeface="DM Sans Italics"/>
                <a:ea typeface="DM Sans Italics"/>
                <a:cs typeface="DM Sans Italics"/>
                <a:sym typeface="DM Sans Italics"/>
              </a:rPr>
              <a:t>Adam O’Mahony T00227115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573748" y="3615629"/>
            <a:ext cx="10959085" cy="17396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568"/>
              </a:lnSpc>
            </a:pPr>
            <a:r>
              <a:rPr lang="en-US" sz="11306" b="true">
                <a:solidFill>
                  <a:srgbClr val="FFFBFB"/>
                </a:solidFill>
                <a:latin typeface="Now Bold"/>
                <a:ea typeface="Now Bold"/>
                <a:cs typeface="Now Bold"/>
                <a:sym typeface="Now Bold"/>
              </a:rPr>
              <a:t>FINAL YEAR</a:t>
            </a: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-295175" y="8630507"/>
            <a:ext cx="2647750" cy="2647750"/>
          </a:xfrm>
          <a:custGeom>
            <a:avLst/>
            <a:gdLst/>
            <a:ahLst/>
            <a:cxnLst/>
            <a:rect r="r" b="b" t="t" l="l"/>
            <a:pathLst>
              <a:path h="2647750" w="2647750">
                <a:moveTo>
                  <a:pt x="0" y="0"/>
                </a:moveTo>
                <a:lnTo>
                  <a:pt x="2647750" y="0"/>
                </a:lnTo>
                <a:lnTo>
                  <a:pt x="2647750" y="2647751"/>
                </a:lnTo>
                <a:lnTo>
                  <a:pt x="0" y="264775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1573748" y="5327661"/>
            <a:ext cx="9659937" cy="17185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568"/>
              </a:lnSpc>
            </a:pPr>
            <a:r>
              <a:rPr lang="en-US" sz="11306" b="true">
                <a:solidFill>
                  <a:srgbClr val="56AEFF"/>
                </a:solidFill>
                <a:latin typeface="Now Bold"/>
                <a:ea typeface="Now Bold"/>
                <a:cs typeface="Now Bold"/>
                <a:sym typeface="Now Bold"/>
              </a:rPr>
              <a:t>PROJECT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45D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-10800000">
            <a:off x="81160" y="9258300"/>
            <a:ext cx="13457996" cy="3264379"/>
            <a:chOff x="0" y="0"/>
            <a:chExt cx="17943995" cy="435250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149650" cy="4149650"/>
            </a:xfrm>
            <a:custGeom>
              <a:avLst/>
              <a:gdLst/>
              <a:ahLst/>
              <a:cxnLst/>
              <a:rect r="r" b="b" t="t" l="l"/>
              <a:pathLst>
                <a:path h="4149650" w="4149650">
                  <a:moveTo>
                    <a:pt x="0" y="0"/>
                  </a:moveTo>
                  <a:lnTo>
                    <a:pt x="4149650" y="0"/>
                  </a:lnTo>
                  <a:lnTo>
                    <a:pt x="4149650" y="4149650"/>
                  </a:lnTo>
                  <a:lnTo>
                    <a:pt x="0" y="41496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4600097" y="861572"/>
              <a:ext cx="4149650" cy="3288079"/>
            </a:xfrm>
            <a:custGeom>
              <a:avLst/>
              <a:gdLst/>
              <a:ahLst/>
              <a:cxnLst/>
              <a:rect r="r" b="b" t="t" l="l"/>
              <a:pathLst>
                <a:path h="3288079" w="4149650">
                  <a:moveTo>
                    <a:pt x="0" y="0"/>
                  </a:moveTo>
                  <a:lnTo>
                    <a:pt x="4149651" y="0"/>
                  </a:lnTo>
                  <a:lnTo>
                    <a:pt x="4149651" y="3288078"/>
                  </a:lnTo>
                  <a:lnTo>
                    <a:pt x="0" y="328807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-26202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9194248" y="202855"/>
              <a:ext cx="4149650" cy="4149650"/>
            </a:xfrm>
            <a:custGeom>
              <a:avLst/>
              <a:gdLst/>
              <a:ahLst/>
              <a:cxnLst/>
              <a:rect r="r" b="b" t="t" l="l"/>
              <a:pathLst>
                <a:path h="4149650" w="4149650">
                  <a:moveTo>
                    <a:pt x="0" y="0"/>
                  </a:moveTo>
                  <a:lnTo>
                    <a:pt x="4149650" y="0"/>
                  </a:lnTo>
                  <a:lnTo>
                    <a:pt x="4149650" y="4149651"/>
                  </a:lnTo>
                  <a:lnTo>
                    <a:pt x="0" y="414965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13794345" y="1064427"/>
              <a:ext cx="4149650" cy="3288079"/>
            </a:xfrm>
            <a:custGeom>
              <a:avLst/>
              <a:gdLst/>
              <a:ahLst/>
              <a:cxnLst/>
              <a:rect r="r" b="b" t="t" l="l"/>
              <a:pathLst>
                <a:path h="3288079" w="4149650">
                  <a:moveTo>
                    <a:pt x="0" y="0"/>
                  </a:moveTo>
                  <a:lnTo>
                    <a:pt x="4149650" y="0"/>
                  </a:lnTo>
                  <a:lnTo>
                    <a:pt x="4149650" y="3288079"/>
                  </a:lnTo>
                  <a:lnTo>
                    <a:pt x="0" y="32880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-26202"/>
              </a:stretch>
            </a:blipFill>
          </p:spPr>
        </p:sp>
      </p:grpSp>
      <p:sp>
        <p:nvSpPr>
          <p:cNvPr name="Freeform 7" id="7"/>
          <p:cNvSpPr/>
          <p:nvPr/>
        </p:nvSpPr>
        <p:spPr>
          <a:xfrm flipH="false" flipV="false" rot="6150721">
            <a:off x="6080933" y="4579544"/>
            <a:ext cx="13544802" cy="1127911"/>
          </a:xfrm>
          <a:custGeom>
            <a:avLst/>
            <a:gdLst/>
            <a:ahLst/>
            <a:cxnLst/>
            <a:rect r="r" b="b" t="t" l="l"/>
            <a:pathLst>
              <a:path h="1127911" w="13544802">
                <a:moveTo>
                  <a:pt x="0" y="0"/>
                </a:moveTo>
                <a:lnTo>
                  <a:pt x="13544801" y="0"/>
                </a:lnTo>
                <a:lnTo>
                  <a:pt x="13544801" y="1127912"/>
                </a:lnTo>
                <a:lnTo>
                  <a:pt x="0" y="11279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-137172" r="0" b="0"/>
            </a:stretch>
          </a:blipFill>
        </p:spPr>
      </p:sp>
      <p:grpSp>
        <p:nvGrpSpPr>
          <p:cNvPr name="Group 8" id="8"/>
          <p:cNvGrpSpPr/>
          <p:nvPr/>
        </p:nvGrpSpPr>
        <p:grpSpPr>
          <a:xfrm rot="0">
            <a:off x="11807534" y="-1118840"/>
            <a:ext cx="7557022" cy="13448838"/>
            <a:chOff x="0" y="0"/>
            <a:chExt cx="10076029" cy="17931785"/>
          </a:xfrm>
        </p:grpSpPr>
        <p:grpSp>
          <p:nvGrpSpPr>
            <p:cNvPr name="Group 9" id="9"/>
            <p:cNvGrpSpPr/>
            <p:nvPr/>
          </p:nvGrpSpPr>
          <p:grpSpPr>
            <a:xfrm rot="0">
              <a:off x="0" y="1491787"/>
              <a:ext cx="8339054" cy="13716000"/>
              <a:chOff x="0" y="0"/>
              <a:chExt cx="3860673" cy="635000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3860673" cy="6350000"/>
              </a:xfrm>
              <a:custGeom>
                <a:avLst/>
                <a:gdLst/>
                <a:ahLst/>
                <a:cxnLst/>
                <a:rect r="r" b="b" t="t" l="l"/>
                <a:pathLst>
                  <a:path h="6350000" w="3860673">
                    <a:moveTo>
                      <a:pt x="3860673" y="0"/>
                    </a:moveTo>
                    <a:lnTo>
                      <a:pt x="2341753" y="6350000"/>
                    </a:lnTo>
                    <a:lnTo>
                      <a:pt x="0" y="6350000"/>
                    </a:lnTo>
                    <a:lnTo>
                      <a:pt x="1518920" y="0"/>
                    </a:lnTo>
                    <a:lnTo>
                      <a:pt x="3860673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 l="-73436" t="0" r="-73436" b="0"/>
                </a:stretch>
              </a:blipFill>
            </p:spPr>
          </p:sp>
        </p:grpSp>
        <p:sp>
          <p:nvSpPr>
            <p:cNvPr name="Freeform 11" id="11"/>
            <p:cNvSpPr/>
            <p:nvPr/>
          </p:nvSpPr>
          <p:spPr>
            <a:xfrm flipH="false" flipV="false" rot="-4615544">
              <a:off x="-1728966" y="8213951"/>
              <a:ext cx="18059735" cy="1503882"/>
            </a:xfrm>
            <a:custGeom>
              <a:avLst/>
              <a:gdLst/>
              <a:ahLst/>
              <a:cxnLst/>
              <a:rect r="r" b="b" t="t" l="l"/>
              <a:pathLst>
                <a:path h="1503882" w="18059735">
                  <a:moveTo>
                    <a:pt x="0" y="0"/>
                  </a:moveTo>
                  <a:lnTo>
                    <a:pt x="18059736" y="0"/>
                  </a:lnTo>
                  <a:lnTo>
                    <a:pt x="18059736" y="1503882"/>
                  </a:lnTo>
                  <a:lnTo>
                    <a:pt x="0" y="15038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137172" r="0" b="0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-10800000">
            <a:off x="15966396" y="9258300"/>
            <a:ext cx="13457996" cy="3264379"/>
            <a:chOff x="0" y="0"/>
            <a:chExt cx="17943995" cy="435250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4149650" cy="4149650"/>
            </a:xfrm>
            <a:custGeom>
              <a:avLst/>
              <a:gdLst/>
              <a:ahLst/>
              <a:cxnLst/>
              <a:rect r="r" b="b" t="t" l="l"/>
              <a:pathLst>
                <a:path h="4149650" w="4149650">
                  <a:moveTo>
                    <a:pt x="0" y="0"/>
                  </a:moveTo>
                  <a:lnTo>
                    <a:pt x="4149650" y="0"/>
                  </a:lnTo>
                  <a:lnTo>
                    <a:pt x="4149650" y="4149650"/>
                  </a:lnTo>
                  <a:lnTo>
                    <a:pt x="0" y="41496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4" id="14"/>
            <p:cNvSpPr/>
            <p:nvPr/>
          </p:nvSpPr>
          <p:spPr>
            <a:xfrm flipH="false" flipV="false" rot="0">
              <a:off x="4600097" y="861572"/>
              <a:ext cx="4149650" cy="3288079"/>
            </a:xfrm>
            <a:custGeom>
              <a:avLst/>
              <a:gdLst/>
              <a:ahLst/>
              <a:cxnLst/>
              <a:rect r="r" b="b" t="t" l="l"/>
              <a:pathLst>
                <a:path h="3288079" w="4149650">
                  <a:moveTo>
                    <a:pt x="0" y="0"/>
                  </a:moveTo>
                  <a:lnTo>
                    <a:pt x="4149651" y="0"/>
                  </a:lnTo>
                  <a:lnTo>
                    <a:pt x="4149651" y="3288078"/>
                  </a:lnTo>
                  <a:lnTo>
                    <a:pt x="0" y="328807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-26202"/>
              </a:stretch>
            </a:blipFill>
          </p:spPr>
        </p:sp>
        <p:sp>
          <p:nvSpPr>
            <p:cNvPr name="Freeform 15" id="15"/>
            <p:cNvSpPr/>
            <p:nvPr/>
          </p:nvSpPr>
          <p:spPr>
            <a:xfrm flipH="false" flipV="false" rot="0">
              <a:off x="9194248" y="202855"/>
              <a:ext cx="4149650" cy="4149650"/>
            </a:xfrm>
            <a:custGeom>
              <a:avLst/>
              <a:gdLst/>
              <a:ahLst/>
              <a:cxnLst/>
              <a:rect r="r" b="b" t="t" l="l"/>
              <a:pathLst>
                <a:path h="4149650" w="4149650">
                  <a:moveTo>
                    <a:pt x="0" y="0"/>
                  </a:moveTo>
                  <a:lnTo>
                    <a:pt x="4149650" y="0"/>
                  </a:lnTo>
                  <a:lnTo>
                    <a:pt x="4149650" y="4149651"/>
                  </a:lnTo>
                  <a:lnTo>
                    <a:pt x="0" y="414965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6" id="16"/>
            <p:cNvSpPr/>
            <p:nvPr/>
          </p:nvSpPr>
          <p:spPr>
            <a:xfrm flipH="false" flipV="false" rot="0">
              <a:off x="13794345" y="1064427"/>
              <a:ext cx="4149650" cy="3288079"/>
            </a:xfrm>
            <a:custGeom>
              <a:avLst/>
              <a:gdLst/>
              <a:ahLst/>
              <a:cxnLst/>
              <a:rect r="r" b="b" t="t" l="l"/>
              <a:pathLst>
                <a:path h="3288079" w="4149650">
                  <a:moveTo>
                    <a:pt x="0" y="0"/>
                  </a:moveTo>
                  <a:lnTo>
                    <a:pt x="4149650" y="0"/>
                  </a:lnTo>
                  <a:lnTo>
                    <a:pt x="4149650" y="3288079"/>
                  </a:lnTo>
                  <a:lnTo>
                    <a:pt x="0" y="32880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-26202"/>
              </a:stretch>
            </a:blipFill>
          </p:spPr>
        </p:sp>
      </p:grpSp>
      <p:sp>
        <p:nvSpPr>
          <p:cNvPr name="TextBox 17" id="17"/>
          <p:cNvSpPr txBox="true"/>
          <p:nvPr/>
        </p:nvSpPr>
        <p:spPr>
          <a:xfrm rot="0">
            <a:off x="1028700" y="1935404"/>
            <a:ext cx="12079086" cy="62858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308"/>
              </a:lnSpc>
              <a:spcBef>
                <a:spcPct val="0"/>
              </a:spcBef>
            </a:pPr>
            <a:r>
              <a:rPr lang="en-US" sz="6924">
                <a:solidFill>
                  <a:srgbClr val="FFFFFF"/>
                </a:solidFill>
                <a:latin typeface="Now"/>
                <a:ea typeface="Now"/>
                <a:cs typeface="Now"/>
                <a:sym typeface="Now"/>
              </a:rPr>
              <a:t>Why is there a divide between the Theoretical definition of Microservice Architecture when it comes to Databases and their Implementation? 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45D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227600" y="0"/>
            <a:ext cx="6279570" cy="10287000"/>
          </a:xfrm>
          <a:custGeom>
            <a:avLst/>
            <a:gdLst/>
            <a:ahLst/>
            <a:cxnLst/>
            <a:rect r="r" b="b" t="t" l="l"/>
            <a:pathLst>
              <a:path h="10287000" w="6279570">
                <a:moveTo>
                  <a:pt x="0" y="0"/>
                </a:moveTo>
                <a:lnTo>
                  <a:pt x="6279571" y="0"/>
                </a:lnTo>
                <a:lnTo>
                  <a:pt x="6279571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01" r="-11111" b="-901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5993373" y="-5458262"/>
            <a:ext cx="10196686" cy="10196686"/>
          </a:xfrm>
          <a:custGeom>
            <a:avLst/>
            <a:gdLst/>
            <a:ahLst/>
            <a:cxnLst/>
            <a:rect r="r" b="b" t="t" l="l"/>
            <a:pathLst>
              <a:path h="10196686" w="10196686">
                <a:moveTo>
                  <a:pt x="0" y="0"/>
                </a:moveTo>
                <a:lnTo>
                  <a:pt x="10196686" y="0"/>
                </a:lnTo>
                <a:lnTo>
                  <a:pt x="10196686" y="10196685"/>
                </a:lnTo>
                <a:lnTo>
                  <a:pt x="0" y="1019668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9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4697329" y="6667836"/>
            <a:ext cx="8414387" cy="8414387"/>
          </a:xfrm>
          <a:custGeom>
            <a:avLst/>
            <a:gdLst/>
            <a:ahLst/>
            <a:cxnLst/>
            <a:rect r="r" b="b" t="t" l="l"/>
            <a:pathLst>
              <a:path h="8414387" w="8414387">
                <a:moveTo>
                  <a:pt x="0" y="0"/>
                </a:moveTo>
                <a:lnTo>
                  <a:pt x="8414387" y="0"/>
                </a:lnTo>
                <a:lnTo>
                  <a:pt x="8414387" y="8414387"/>
                </a:lnTo>
                <a:lnTo>
                  <a:pt x="0" y="841438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29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6597011" y="1869489"/>
            <a:ext cx="9879016" cy="7405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719"/>
              </a:lnSpc>
              <a:spcBef>
                <a:spcPct val="0"/>
              </a:spcBef>
            </a:pPr>
            <a:r>
              <a:rPr lang="en-US" b="true" sz="4766">
                <a:solidFill>
                  <a:srgbClr val="FFFFFF"/>
                </a:solidFill>
                <a:latin typeface="Now Bold"/>
                <a:ea typeface="Now Bold"/>
                <a:cs typeface="Now Bold"/>
                <a:sym typeface="Now Bold"/>
              </a:rPr>
              <a:t>MAIN RESEARCH AREAS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847387" y="7220205"/>
            <a:ext cx="9628640" cy="857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900"/>
              </a:lnSpc>
              <a:spcBef>
                <a:spcPct val="0"/>
              </a:spcBef>
            </a:pPr>
            <a:r>
              <a:rPr lang="en-US" b="true" sz="5000">
                <a:solidFill>
                  <a:srgbClr val="4BD1FB"/>
                </a:solidFill>
                <a:latin typeface="DM Sans Bold"/>
                <a:ea typeface="DM Sans Bold"/>
                <a:cs typeface="DM Sans Bold"/>
                <a:sym typeface="DM Sans Bold"/>
              </a:rPr>
              <a:t>Database Technologies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4879535" y="2952478"/>
            <a:ext cx="1717476" cy="1717476"/>
            <a:chOff x="0" y="0"/>
            <a:chExt cx="2289968" cy="2289968"/>
          </a:xfrm>
        </p:grpSpPr>
        <p:grpSp>
          <p:nvGrpSpPr>
            <p:cNvPr name="Group 8" id="8"/>
            <p:cNvGrpSpPr/>
            <p:nvPr/>
          </p:nvGrpSpPr>
          <p:grpSpPr>
            <a:xfrm rot="0">
              <a:off x="0" y="0"/>
              <a:ext cx="2289968" cy="2289968"/>
              <a:chOff x="0" y="0"/>
              <a:chExt cx="812800" cy="812800"/>
            </a:xfrm>
          </p:grpSpPr>
          <p:sp>
            <p:nvSpPr>
              <p:cNvPr name="Freeform 9" id="9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51D40"/>
              </a:solidFill>
            </p:spPr>
          </p:sp>
          <p:sp>
            <p:nvSpPr>
              <p:cNvPr name="TextBox 10" id="10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05"/>
                  </a:lnSpc>
                </a:pPr>
              </a:p>
            </p:txBody>
          </p:sp>
        </p:grpSp>
        <p:sp>
          <p:nvSpPr>
            <p:cNvPr name="Freeform 11" id="11"/>
            <p:cNvSpPr/>
            <p:nvPr/>
          </p:nvSpPr>
          <p:spPr>
            <a:xfrm flipH="false" flipV="false" rot="0">
              <a:off x="410142" y="428847"/>
              <a:ext cx="1469684" cy="1432274"/>
            </a:xfrm>
            <a:custGeom>
              <a:avLst/>
              <a:gdLst/>
              <a:ahLst/>
              <a:cxnLst/>
              <a:rect r="r" b="b" t="t" l="l"/>
              <a:pathLst>
                <a:path h="1432274" w="1469684">
                  <a:moveTo>
                    <a:pt x="0" y="0"/>
                  </a:moveTo>
                  <a:lnTo>
                    <a:pt x="1469684" y="0"/>
                  </a:lnTo>
                  <a:lnTo>
                    <a:pt x="1469684" y="1432274"/>
                  </a:lnTo>
                  <a:lnTo>
                    <a:pt x="0" y="14322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TextBox 12" id="12"/>
          <p:cNvSpPr txBox="true"/>
          <p:nvPr/>
        </p:nvSpPr>
        <p:spPr>
          <a:xfrm rot="0">
            <a:off x="6847387" y="5087085"/>
            <a:ext cx="9628640" cy="857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900"/>
              </a:lnSpc>
              <a:spcBef>
                <a:spcPct val="0"/>
              </a:spcBef>
            </a:pPr>
            <a:r>
              <a:rPr lang="en-US" b="true" sz="5000">
                <a:solidFill>
                  <a:srgbClr val="4BD1FB"/>
                </a:solidFill>
                <a:latin typeface="DM Sans Bold"/>
                <a:ea typeface="DM Sans Bold"/>
                <a:cs typeface="DM Sans Bold"/>
                <a:sym typeface="DM Sans Bold"/>
              </a:rPr>
              <a:t>Microservices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4879535" y="5085597"/>
            <a:ext cx="1717476" cy="1717476"/>
            <a:chOff x="0" y="0"/>
            <a:chExt cx="2289968" cy="2289968"/>
          </a:xfrm>
        </p:grpSpPr>
        <p:grpSp>
          <p:nvGrpSpPr>
            <p:cNvPr name="Group 14" id="14"/>
            <p:cNvGrpSpPr/>
            <p:nvPr/>
          </p:nvGrpSpPr>
          <p:grpSpPr>
            <a:xfrm rot="0">
              <a:off x="0" y="0"/>
              <a:ext cx="2289968" cy="2289968"/>
              <a:chOff x="0" y="0"/>
              <a:chExt cx="812800" cy="812800"/>
            </a:xfrm>
          </p:grpSpPr>
          <p:sp>
            <p:nvSpPr>
              <p:cNvPr name="Freeform 15" id="15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51D40"/>
              </a:solidFill>
            </p:spPr>
          </p:sp>
          <p:sp>
            <p:nvSpPr>
              <p:cNvPr name="TextBox 16" id="16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05"/>
                  </a:lnSpc>
                </a:pPr>
              </a:p>
            </p:txBody>
          </p:sp>
        </p:grpSp>
        <p:sp>
          <p:nvSpPr>
            <p:cNvPr name="Freeform 17" id="17"/>
            <p:cNvSpPr/>
            <p:nvPr/>
          </p:nvSpPr>
          <p:spPr>
            <a:xfrm flipH="false" flipV="false" rot="0">
              <a:off x="558038" y="499064"/>
              <a:ext cx="1173892" cy="1342288"/>
            </a:xfrm>
            <a:custGeom>
              <a:avLst/>
              <a:gdLst/>
              <a:ahLst/>
              <a:cxnLst/>
              <a:rect r="r" b="b" t="t" l="l"/>
              <a:pathLst>
                <a:path h="1342288" w="1173892">
                  <a:moveTo>
                    <a:pt x="0" y="0"/>
                  </a:moveTo>
                  <a:lnTo>
                    <a:pt x="1173892" y="0"/>
                  </a:lnTo>
                  <a:lnTo>
                    <a:pt x="1173892" y="1342287"/>
                  </a:lnTo>
                  <a:lnTo>
                    <a:pt x="0" y="13422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TextBox 18" id="18"/>
          <p:cNvSpPr txBox="true"/>
          <p:nvPr/>
        </p:nvSpPr>
        <p:spPr>
          <a:xfrm rot="0">
            <a:off x="6847387" y="2857228"/>
            <a:ext cx="10411913" cy="857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900"/>
              </a:lnSpc>
              <a:spcBef>
                <a:spcPct val="0"/>
              </a:spcBef>
            </a:pPr>
            <a:r>
              <a:rPr lang="en-US" b="true" sz="5000">
                <a:solidFill>
                  <a:srgbClr val="4BD1FB"/>
                </a:solidFill>
                <a:latin typeface="DM Sans Bold"/>
                <a:ea typeface="DM Sans Bold"/>
                <a:cs typeface="DM Sans Bold"/>
                <a:sym typeface="DM Sans Bold"/>
              </a:rPr>
              <a:t>Distributed Databases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4879535" y="7218717"/>
            <a:ext cx="1717476" cy="1717476"/>
            <a:chOff x="0" y="0"/>
            <a:chExt cx="2289968" cy="2289968"/>
          </a:xfrm>
        </p:grpSpPr>
        <p:grpSp>
          <p:nvGrpSpPr>
            <p:cNvPr name="Group 20" id="20"/>
            <p:cNvGrpSpPr/>
            <p:nvPr/>
          </p:nvGrpSpPr>
          <p:grpSpPr>
            <a:xfrm rot="0">
              <a:off x="0" y="0"/>
              <a:ext cx="2289968" cy="2289968"/>
              <a:chOff x="0" y="0"/>
              <a:chExt cx="812800" cy="812800"/>
            </a:xfrm>
          </p:grpSpPr>
          <p:sp>
            <p:nvSpPr>
              <p:cNvPr name="Freeform 21" id="21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51D40"/>
              </a:solidFill>
            </p:spPr>
          </p:sp>
          <p:sp>
            <p:nvSpPr>
              <p:cNvPr name="TextBox 22" id="22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05"/>
                  </a:lnSpc>
                </a:pPr>
              </a:p>
            </p:txBody>
          </p:sp>
        </p:grpSp>
        <p:sp>
          <p:nvSpPr>
            <p:cNvPr name="Freeform 23" id="23"/>
            <p:cNvSpPr/>
            <p:nvPr/>
          </p:nvSpPr>
          <p:spPr>
            <a:xfrm flipH="false" flipV="false" rot="0">
              <a:off x="596832" y="495806"/>
              <a:ext cx="1135098" cy="1445148"/>
            </a:xfrm>
            <a:custGeom>
              <a:avLst/>
              <a:gdLst/>
              <a:ahLst/>
              <a:cxnLst/>
              <a:rect r="r" b="b" t="t" l="l"/>
              <a:pathLst>
                <a:path h="1445148" w="1135098">
                  <a:moveTo>
                    <a:pt x="0" y="0"/>
                  </a:moveTo>
                  <a:lnTo>
                    <a:pt x="1135098" y="0"/>
                  </a:lnTo>
                  <a:lnTo>
                    <a:pt x="1135098" y="1445148"/>
                  </a:lnTo>
                  <a:lnTo>
                    <a:pt x="0" y="14451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TextBox 24" id="24"/>
          <p:cNvSpPr txBox="true"/>
          <p:nvPr/>
        </p:nvSpPr>
        <p:spPr>
          <a:xfrm rot="0">
            <a:off x="6847387" y="3754066"/>
            <a:ext cx="9143062" cy="10363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40"/>
              </a:lnSpc>
              <a:spcBef>
                <a:spcPct val="0"/>
              </a:spcBef>
            </a:pPr>
            <a:r>
              <a:rPr lang="en-US" b="true" sz="3000">
                <a:solidFill>
                  <a:srgbClr val="4BD1FB"/>
                </a:solidFill>
                <a:latin typeface="DM Sans Bold"/>
                <a:ea typeface="DM Sans Bold"/>
                <a:cs typeface="DM Sans Bold"/>
                <a:sym typeface="DM Sans Bold"/>
              </a:rPr>
              <a:t>Database Replication | Database Architecture | Database Models |  Sharding 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6847387" y="5982435"/>
            <a:ext cx="9143062" cy="10363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40"/>
              </a:lnSpc>
              <a:spcBef>
                <a:spcPct val="0"/>
              </a:spcBef>
            </a:pPr>
            <a:r>
              <a:rPr lang="en-US" b="true" sz="3000">
                <a:solidFill>
                  <a:srgbClr val="4BD1FB"/>
                </a:solidFill>
                <a:latin typeface="DM Sans Bold"/>
                <a:ea typeface="DM Sans Bold"/>
                <a:cs typeface="DM Sans Bold"/>
                <a:sym typeface="DM Sans Bold"/>
              </a:rPr>
              <a:t>Microservices Overview | Consistency Challenges | Saga Patterns | Event Driven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6847387" y="8115555"/>
            <a:ext cx="9143062" cy="10363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40"/>
              </a:lnSpc>
              <a:spcBef>
                <a:spcPct val="0"/>
              </a:spcBef>
            </a:pPr>
            <a:r>
              <a:rPr lang="en-US" b="true" sz="3000">
                <a:solidFill>
                  <a:srgbClr val="4BD1FB"/>
                </a:solidFill>
                <a:latin typeface="DM Sans Bold"/>
                <a:ea typeface="DM Sans Bold"/>
                <a:cs typeface="DM Sans Bold"/>
                <a:sym typeface="DM Sans Bold"/>
              </a:rPr>
              <a:t>Database Middleware | Edge Databases | Immutable Databases | Change Data Capture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51D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1967025" y="5034049"/>
            <a:ext cx="4052614" cy="1304618"/>
            <a:chOff x="0" y="0"/>
            <a:chExt cx="4289760" cy="138096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289806" cy="1380998"/>
            </a:xfrm>
            <a:custGeom>
              <a:avLst/>
              <a:gdLst/>
              <a:ahLst/>
              <a:cxnLst/>
              <a:rect r="r" b="b" t="t" l="l"/>
              <a:pathLst>
                <a:path h="1380998" w="4289806">
                  <a:moveTo>
                    <a:pt x="4013454" y="876173"/>
                  </a:moveTo>
                  <a:lnTo>
                    <a:pt x="3530854" y="0"/>
                  </a:lnTo>
                  <a:lnTo>
                    <a:pt x="758825" y="0"/>
                  </a:lnTo>
                  <a:lnTo>
                    <a:pt x="279400" y="876173"/>
                  </a:lnTo>
                  <a:lnTo>
                    <a:pt x="0" y="1380998"/>
                  </a:lnTo>
                  <a:lnTo>
                    <a:pt x="4289806" y="1380998"/>
                  </a:lnTo>
                  <a:lnTo>
                    <a:pt x="4013454" y="876173"/>
                  </a:lnTo>
                  <a:close/>
                </a:path>
              </a:pathLst>
            </a:custGeom>
            <a:solidFill>
              <a:srgbClr val="4BD1FB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728846" y="2553370"/>
            <a:ext cx="2531693" cy="2387491"/>
            <a:chOff x="0" y="0"/>
            <a:chExt cx="2679840" cy="25272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679827" cy="2527173"/>
            </a:xfrm>
            <a:custGeom>
              <a:avLst/>
              <a:gdLst/>
              <a:ahLst/>
              <a:cxnLst/>
              <a:rect r="r" b="b" t="t" l="l"/>
              <a:pathLst>
                <a:path h="2527173" w="2679827">
                  <a:moveTo>
                    <a:pt x="1343152" y="0"/>
                  </a:moveTo>
                  <a:lnTo>
                    <a:pt x="0" y="2527173"/>
                  </a:lnTo>
                  <a:lnTo>
                    <a:pt x="2679827" y="2527173"/>
                  </a:lnTo>
                  <a:lnTo>
                    <a:pt x="1343152" y="0"/>
                  </a:lnTo>
                  <a:close/>
                </a:path>
              </a:pathLst>
            </a:custGeom>
            <a:solidFill>
              <a:srgbClr val="CFF4FF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0278776" y="7868430"/>
            <a:ext cx="7426391" cy="1436576"/>
            <a:chOff x="0" y="0"/>
            <a:chExt cx="7860960" cy="152064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860919" cy="1520698"/>
            </a:xfrm>
            <a:custGeom>
              <a:avLst/>
              <a:gdLst/>
              <a:ahLst/>
              <a:cxnLst/>
              <a:rect r="r" b="b" t="t" l="l"/>
              <a:pathLst>
                <a:path h="1520698" w="7860919">
                  <a:moveTo>
                    <a:pt x="879475" y="0"/>
                  </a:moveTo>
                  <a:lnTo>
                    <a:pt x="0" y="1520698"/>
                  </a:lnTo>
                  <a:lnTo>
                    <a:pt x="3933698" y="1520698"/>
                  </a:lnTo>
                  <a:lnTo>
                    <a:pt x="7860919" y="1520698"/>
                  </a:lnTo>
                  <a:lnTo>
                    <a:pt x="6981571" y="0"/>
                  </a:lnTo>
                  <a:lnTo>
                    <a:pt x="879475" y="0"/>
                  </a:lnTo>
                  <a:close/>
                </a:path>
              </a:pathLst>
            </a:custGeom>
            <a:solidFill>
              <a:srgbClr val="0071C9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11175276" y="6446818"/>
            <a:ext cx="5638833" cy="1301897"/>
            <a:chOff x="0" y="0"/>
            <a:chExt cx="5968800" cy="137808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5968746" cy="1378077"/>
            </a:xfrm>
            <a:custGeom>
              <a:avLst/>
              <a:gdLst/>
              <a:ahLst/>
              <a:cxnLst/>
              <a:rect r="r" b="b" t="t" l="l"/>
              <a:pathLst>
                <a:path h="1378077" w="5968746">
                  <a:moveTo>
                    <a:pt x="5194173" y="0"/>
                  </a:moveTo>
                  <a:lnTo>
                    <a:pt x="774700" y="0"/>
                  </a:lnTo>
                  <a:lnTo>
                    <a:pt x="0" y="1378077"/>
                  </a:lnTo>
                  <a:lnTo>
                    <a:pt x="5968746" y="1378077"/>
                  </a:lnTo>
                  <a:lnTo>
                    <a:pt x="5194173" y="0"/>
                  </a:lnTo>
                  <a:close/>
                </a:path>
              </a:pathLst>
            </a:custGeom>
            <a:solidFill>
              <a:srgbClr val="56AEFF"/>
            </a:solidFill>
          </p:spPr>
        </p:sp>
      </p:grpSp>
      <p:sp>
        <p:nvSpPr>
          <p:cNvPr name="Freeform 10" id="10"/>
          <p:cNvSpPr/>
          <p:nvPr/>
        </p:nvSpPr>
        <p:spPr>
          <a:xfrm flipH="false" flipV="false" rot="0">
            <a:off x="13406607" y="5137324"/>
            <a:ext cx="1039553" cy="1039553"/>
          </a:xfrm>
          <a:custGeom>
            <a:avLst/>
            <a:gdLst/>
            <a:ahLst/>
            <a:cxnLst/>
            <a:rect r="r" b="b" t="t" l="l"/>
            <a:pathLst>
              <a:path h="1039553" w="1039553">
                <a:moveTo>
                  <a:pt x="0" y="0"/>
                </a:moveTo>
                <a:lnTo>
                  <a:pt x="1039553" y="0"/>
                </a:lnTo>
                <a:lnTo>
                  <a:pt x="1039553" y="1039553"/>
                </a:lnTo>
                <a:lnTo>
                  <a:pt x="0" y="10395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13406607" y="6658671"/>
            <a:ext cx="1170730" cy="889755"/>
          </a:xfrm>
          <a:custGeom>
            <a:avLst/>
            <a:gdLst/>
            <a:ahLst/>
            <a:cxnLst/>
            <a:rect r="r" b="b" t="t" l="l"/>
            <a:pathLst>
              <a:path h="889755" w="1170730">
                <a:moveTo>
                  <a:pt x="0" y="0"/>
                </a:moveTo>
                <a:lnTo>
                  <a:pt x="1170730" y="0"/>
                </a:lnTo>
                <a:lnTo>
                  <a:pt x="1170730" y="889754"/>
                </a:lnTo>
                <a:lnTo>
                  <a:pt x="0" y="88975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13294719" y="8019650"/>
            <a:ext cx="1394505" cy="1134135"/>
          </a:xfrm>
          <a:custGeom>
            <a:avLst/>
            <a:gdLst/>
            <a:ahLst/>
            <a:cxnLst/>
            <a:rect r="r" b="b" t="t" l="l"/>
            <a:pathLst>
              <a:path h="1134135" w="1394505">
                <a:moveTo>
                  <a:pt x="0" y="0"/>
                </a:moveTo>
                <a:lnTo>
                  <a:pt x="1394506" y="0"/>
                </a:lnTo>
                <a:lnTo>
                  <a:pt x="1394506" y="1134135"/>
                </a:lnTo>
                <a:lnTo>
                  <a:pt x="0" y="113413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13491874" y="3478367"/>
            <a:ext cx="1085463" cy="1085463"/>
          </a:xfrm>
          <a:custGeom>
            <a:avLst/>
            <a:gdLst/>
            <a:ahLst/>
            <a:cxnLst/>
            <a:rect r="r" b="b" t="t" l="l"/>
            <a:pathLst>
              <a:path h="1085463" w="1085463">
                <a:moveTo>
                  <a:pt x="0" y="0"/>
                </a:moveTo>
                <a:lnTo>
                  <a:pt x="1085463" y="0"/>
                </a:lnTo>
                <a:lnTo>
                  <a:pt x="1085463" y="1085463"/>
                </a:lnTo>
                <a:lnTo>
                  <a:pt x="0" y="1085463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1028700" y="507380"/>
            <a:ext cx="14944487" cy="1929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7522"/>
              </a:lnSpc>
              <a:spcBef>
                <a:spcPct val="0"/>
              </a:spcBef>
            </a:pPr>
            <a:r>
              <a:rPr lang="en-US" b="true" sz="6268">
                <a:solidFill>
                  <a:srgbClr val="FFFFFF"/>
                </a:solidFill>
                <a:latin typeface="Now Bold"/>
                <a:ea typeface="Now Bold"/>
                <a:cs typeface="Now Bold"/>
                <a:sym typeface="Now Bold"/>
              </a:rPr>
              <a:t>Project Design - Database Management System Middleware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695799" y="3195900"/>
            <a:ext cx="1212994" cy="934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7617"/>
              </a:lnSpc>
              <a:spcBef>
                <a:spcPct val="0"/>
              </a:spcBef>
            </a:pPr>
            <a:r>
              <a:rPr lang="en-US" b="true" sz="5519">
                <a:solidFill>
                  <a:srgbClr val="4BD1FB"/>
                </a:solidFill>
                <a:latin typeface="DM Sans Bold"/>
                <a:ea typeface="DM Sans Bold"/>
                <a:cs typeface="DM Sans Bold"/>
                <a:sym typeface="DM Sans Bold"/>
              </a:rPr>
              <a:t>01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695799" y="4650524"/>
            <a:ext cx="1212994" cy="934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7617"/>
              </a:lnSpc>
              <a:spcBef>
                <a:spcPct val="0"/>
              </a:spcBef>
            </a:pPr>
            <a:r>
              <a:rPr lang="en-US" b="true" sz="5519">
                <a:solidFill>
                  <a:srgbClr val="4BD1FB"/>
                </a:solidFill>
                <a:latin typeface="DM Sans Bold"/>
                <a:ea typeface="DM Sans Bold"/>
                <a:cs typeface="DM Sans Bold"/>
                <a:sym typeface="DM Sans Bold"/>
              </a:rPr>
              <a:t>02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695799" y="6102091"/>
            <a:ext cx="1212994" cy="934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7617"/>
              </a:lnSpc>
              <a:spcBef>
                <a:spcPct val="0"/>
              </a:spcBef>
            </a:pPr>
            <a:r>
              <a:rPr lang="en-US" b="true" sz="5519">
                <a:solidFill>
                  <a:srgbClr val="4BD1FB"/>
                </a:solidFill>
                <a:latin typeface="DM Sans Bold"/>
                <a:ea typeface="DM Sans Bold"/>
                <a:cs typeface="DM Sans Bold"/>
                <a:sym typeface="DM Sans Bold"/>
              </a:rPr>
              <a:t>03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695799" y="7556716"/>
            <a:ext cx="1212994" cy="934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7617"/>
              </a:lnSpc>
              <a:spcBef>
                <a:spcPct val="0"/>
              </a:spcBef>
            </a:pPr>
            <a:r>
              <a:rPr lang="en-US" b="true" sz="5519">
                <a:solidFill>
                  <a:srgbClr val="4BD1FB"/>
                </a:solidFill>
                <a:latin typeface="DM Sans Bold"/>
                <a:ea typeface="DM Sans Bold"/>
                <a:cs typeface="DM Sans Bold"/>
                <a:sym typeface="DM Sans Bold"/>
              </a:rPr>
              <a:t>04</a:t>
            </a:r>
          </a:p>
        </p:txBody>
      </p:sp>
      <p:sp>
        <p:nvSpPr>
          <p:cNvPr name="Freeform 19" id="19"/>
          <p:cNvSpPr/>
          <p:nvPr/>
        </p:nvSpPr>
        <p:spPr>
          <a:xfrm flipH="false" flipV="false" rot="0">
            <a:off x="15128164" y="-2586935"/>
            <a:ext cx="5956513" cy="5956513"/>
          </a:xfrm>
          <a:custGeom>
            <a:avLst/>
            <a:gdLst/>
            <a:ahLst/>
            <a:cxnLst/>
            <a:rect r="r" b="b" t="t" l="l"/>
            <a:pathLst>
              <a:path h="5956513" w="5956513">
                <a:moveTo>
                  <a:pt x="0" y="0"/>
                </a:moveTo>
                <a:lnTo>
                  <a:pt x="5956513" y="0"/>
                </a:lnTo>
                <a:lnTo>
                  <a:pt x="5956513" y="5956513"/>
                </a:lnTo>
                <a:lnTo>
                  <a:pt x="0" y="595651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-3359890" y="7239384"/>
            <a:ext cx="5956513" cy="5956513"/>
          </a:xfrm>
          <a:custGeom>
            <a:avLst/>
            <a:gdLst/>
            <a:ahLst/>
            <a:cxnLst/>
            <a:rect r="r" b="b" t="t" l="l"/>
            <a:pathLst>
              <a:path h="5956513" w="5956513">
                <a:moveTo>
                  <a:pt x="0" y="0"/>
                </a:moveTo>
                <a:lnTo>
                  <a:pt x="5956513" y="0"/>
                </a:lnTo>
                <a:lnTo>
                  <a:pt x="5956513" y="5956513"/>
                </a:lnTo>
                <a:lnTo>
                  <a:pt x="0" y="595651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1" id="21"/>
          <p:cNvSpPr txBox="true"/>
          <p:nvPr/>
        </p:nvSpPr>
        <p:spPr>
          <a:xfrm rot="0">
            <a:off x="2908793" y="3352315"/>
            <a:ext cx="8037082" cy="1036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140"/>
              </a:lnSpc>
              <a:spcBef>
                <a:spcPct val="0"/>
              </a:spcBef>
            </a:pPr>
            <a:r>
              <a:rPr lang="en-US" sz="300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Database Mangement - add databases and probide central hub for database admin.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2908793" y="4753858"/>
            <a:ext cx="9267603" cy="1036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140"/>
              </a:lnSpc>
              <a:spcBef>
                <a:spcPct val="0"/>
              </a:spcBef>
            </a:pPr>
            <a:r>
              <a:rPr lang="en-US" sz="300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Database Replication - Provide Replication for small databases attached to Microservices.</a:t>
            </a:r>
          </a:p>
        </p:txBody>
      </p:sp>
      <p:sp>
        <p:nvSpPr>
          <p:cNvPr name="AutoShape 23" id="23"/>
          <p:cNvSpPr/>
          <p:nvPr/>
        </p:nvSpPr>
        <p:spPr>
          <a:xfrm flipH="true" flipV="true">
            <a:off x="1970968" y="4575585"/>
            <a:ext cx="742398" cy="0"/>
          </a:xfrm>
          <a:prstGeom prst="line">
            <a:avLst/>
          </a:prstGeom>
          <a:ln cap="flat" w="57150">
            <a:solidFill>
              <a:srgbClr val="4BD1F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4" id="24"/>
          <p:cNvSpPr/>
          <p:nvPr/>
        </p:nvSpPr>
        <p:spPr>
          <a:xfrm flipH="true" flipV="true">
            <a:off x="1891226" y="6013484"/>
            <a:ext cx="742398" cy="0"/>
          </a:xfrm>
          <a:prstGeom prst="line">
            <a:avLst/>
          </a:prstGeom>
          <a:ln cap="flat" w="57150">
            <a:solidFill>
              <a:srgbClr val="4BD1F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5" id="25"/>
          <p:cNvSpPr/>
          <p:nvPr/>
        </p:nvSpPr>
        <p:spPr>
          <a:xfrm flipH="true" flipV="true">
            <a:off x="1891226" y="7454031"/>
            <a:ext cx="742398" cy="0"/>
          </a:xfrm>
          <a:prstGeom prst="line">
            <a:avLst/>
          </a:prstGeom>
          <a:ln cap="flat" w="57150">
            <a:solidFill>
              <a:srgbClr val="4BD1F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26" id="26"/>
          <p:cNvSpPr txBox="true"/>
          <p:nvPr/>
        </p:nvSpPr>
        <p:spPr>
          <a:xfrm rot="0">
            <a:off x="2908793" y="6152128"/>
            <a:ext cx="9267603" cy="1036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140"/>
              </a:lnSpc>
              <a:spcBef>
                <a:spcPct val="0"/>
              </a:spcBef>
            </a:pPr>
            <a:r>
              <a:rPr lang="en-US" sz="300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Data Consistency Strategies - Ability to apply consistency strategy to a database.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2908793" y="7550398"/>
            <a:ext cx="9267603" cy="1036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140"/>
              </a:lnSpc>
              <a:spcBef>
                <a:spcPct val="0"/>
              </a:spcBef>
            </a:pPr>
            <a:r>
              <a:rPr lang="en-US" sz="300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Replication Sync Checker - Checking of data consistency between replications.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45D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3860032"/>
          </a:xfrm>
          <a:custGeom>
            <a:avLst/>
            <a:gdLst/>
            <a:ahLst/>
            <a:cxnLst/>
            <a:rect r="r" b="b" t="t" l="l"/>
            <a:pathLst>
              <a:path h="3860032" w="18288000">
                <a:moveTo>
                  <a:pt x="0" y="0"/>
                </a:moveTo>
                <a:lnTo>
                  <a:pt x="18288000" y="0"/>
                </a:lnTo>
                <a:lnTo>
                  <a:pt x="18288000" y="3860032"/>
                </a:lnTo>
                <a:lnTo>
                  <a:pt x="0" y="386003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7827" r="0" b="-107827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4458366" y="0"/>
            <a:ext cx="9658350" cy="10287000"/>
            <a:chOff x="0" y="0"/>
            <a:chExt cx="2543763" cy="270933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543763" cy="2709333"/>
            </a:xfrm>
            <a:custGeom>
              <a:avLst/>
              <a:gdLst/>
              <a:ahLst/>
              <a:cxnLst/>
              <a:rect r="r" b="b" t="t" l="l"/>
              <a:pathLst>
                <a:path h="2709333" w="2543763">
                  <a:moveTo>
                    <a:pt x="0" y="0"/>
                  </a:moveTo>
                  <a:lnTo>
                    <a:pt x="2543763" y="0"/>
                  </a:lnTo>
                  <a:lnTo>
                    <a:pt x="2543763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51D40">
                <a:alpha val="74902"/>
              </a:srgbClr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2543763" cy="274743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05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218371" y="3712151"/>
            <a:ext cx="17851258" cy="1718184"/>
          </a:xfrm>
          <a:custGeom>
            <a:avLst/>
            <a:gdLst/>
            <a:ahLst/>
            <a:cxnLst/>
            <a:rect r="r" b="b" t="t" l="l"/>
            <a:pathLst>
              <a:path h="1718184" w="17851258">
                <a:moveTo>
                  <a:pt x="0" y="0"/>
                </a:moveTo>
                <a:lnTo>
                  <a:pt x="17851258" y="0"/>
                </a:lnTo>
                <a:lnTo>
                  <a:pt x="17851258" y="1718184"/>
                </a:lnTo>
                <a:lnTo>
                  <a:pt x="0" y="171818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5021151" y="667702"/>
            <a:ext cx="8245699" cy="721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687"/>
              </a:lnSpc>
              <a:spcBef>
                <a:spcPct val="0"/>
              </a:spcBef>
            </a:pPr>
            <a:r>
              <a:rPr lang="en-US" b="true" sz="4739">
                <a:solidFill>
                  <a:srgbClr val="FFFFFF"/>
                </a:solidFill>
                <a:latin typeface="Now Bold"/>
                <a:ea typeface="Now Bold"/>
                <a:cs typeface="Now Bold"/>
                <a:sym typeface="Now Bold"/>
              </a:rPr>
              <a:t>Prototype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4631136" y="1332548"/>
            <a:ext cx="9485580" cy="20840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140"/>
              </a:lnSpc>
              <a:spcBef>
                <a:spcPct val="0"/>
              </a:spcBef>
            </a:pPr>
            <a:r>
              <a:rPr lang="en-US" sz="300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The Prototype allowed databases to be added to the system, and then revealed an issue with the connectivity of external middleware to Edge Databases.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4544751" y="5668718"/>
            <a:ext cx="9485580" cy="41795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40"/>
              </a:lnSpc>
            </a:pPr>
            <a:r>
              <a:rPr lang="en-US" sz="300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A work around was found for H2 databases, however, this brought up a fundamental issue with the plan of creating a generic “Silver Bullet Solution”.</a:t>
            </a:r>
          </a:p>
          <a:p>
            <a:pPr algn="ctr">
              <a:lnSpc>
                <a:spcPts val="4140"/>
              </a:lnSpc>
            </a:pPr>
          </a:p>
          <a:p>
            <a:pPr algn="ctr" marL="0" indent="0" lvl="0">
              <a:lnSpc>
                <a:spcPts val="4140"/>
              </a:lnSpc>
              <a:spcBef>
                <a:spcPct val="0"/>
              </a:spcBef>
            </a:pPr>
            <a:r>
              <a:rPr lang="en-US" sz="300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Therefore a pivot towards creation of a database system that satisfys the requirements of data consistency and connectivity that a microservice management system requires.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45D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1313163">
            <a:off x="-4261137" y="6573910"/>
            <a:ext cx="9085628" cy="5368780"/>
          </a:xfrm>
          <a:custGeom>
            <a:avLst/>
            <a:gdLst/>
            <a:ahLst/>
            <a:cxnLst/>
            <a:rect r="r" b="b" t="t" l="l"/>
            <a:pathLst>
              <a:path h="5368780" w="9085628">
                <a:moveTo>
                  <a:pt x="0" y="0"/>
                </a:moveTo>
                <a:lnTo>
                  <a:pt x="9085628" y="0"/>
                </a:lnTo>
                <a:lnTo>
                  <a:pt x="9085628" y="5368780"/>
                </a:lnTo>
                <a:lnTo>
                  <a:pt x="0" y="536878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3233851" y="8541420"/>
            <a:ext cx="3711992" cy="321151"/>
          </a:xfrm>
          <a:custGeom>
            <a:avLst/>
            <a:gdLst/>
            <a:ahLst/>
            <a:cxnLst/>
            <a:rect r="r" b="b" t="t" l="l"/>
            <a:pathLst>
              <a:path h="321151" w="3711992">
                <a:moveTo>
                  <a:pt x="0" y="0"/>
                </a:moveTo>
                <a:lnTo>
                  <a:pt x="3711992" y="0"/>
                </a:lnTo>
                <a:lnTo>
                  <a:pt x="3711992" y="321150"/>
                </a:lnTo>
                <a:lnTo>
                  <a:pt x="0" y="32115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-121209" r="0" b="-7069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7286403" y="8541420"/>
            <a:ext cx="3711992" cy="321151"/>
          </a:xfrm>
          <a:custGeom>
            <a:avLst/>
            <a:gdLst/>
            <a:ahLst/>
            <a:cxnLst/>
            <a:rect r="r" b="b" t="t" l="l"/>
            <a:pathLst>
              <a:path h="321151" w="3711992">
                <a:moveTo>
                  <a:pt x="0" y="0"/>
                </a:moveTo>
                <a:lnTo>
                  <a:pt x="3711993" y="0"/>
                </a:lnTo>
                <a:lnTo>
                  <a:pt x="3711993" y="321150"/>
                </a:lnTo>
                <a:lnTo>
                  <a:pt x="0" y="32115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-121209" r="0" b="-7069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1342157" y="8541420"/>
            <a:ext cx="3711992" cy="321151"/>
          </a:xfrm>
          <a:custGeom>
            <a:avLst/>
            <a:gdLst/>
            <a:ahLst/>
            <a:cxnLst/>
            <a:rect r="r" b="b" t="t" l="l"/>
            <a:pathLst>
              <a:path h="321151" w="3711992">
                <a:moveTo>
                  <a:pt x="0" y="0"/>
                </a:moveTo>
                <a:lnTo>
                  <a:pt x="3711992" y="0"/>
                </a:lnTo>
                <a:lnTo>
                  <a:pt x="3711992" y="321150"/>
                </a:lnTo>
                <a:lnTo>
                  <a:pt x="0" y="32115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-121209" r="0" b="-7069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3253410" y="5374932"/>
            <a:ext cx="3692433" cy="3166488"/>
            <a:chOff x="0" y="0"/>
            <a:chExt cx="1131733" cy="97053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131733" cy="970530"/>
            </a:xfrm>
            <a:custGeom>
              <a:avLst/>
              <a:gdLst/>
              <a:ahLst/>
              <a:cxnLst/>
              <a:rect r="r" b="b" t="t" l="l"/>
              <a:pathLst>
                <a:path h="970530" w="1131733">
                  <a:moveTo>
                    <a:pt x="0" y="0"/>
                  </a:moveTo>
                  <a:lnTo>
                    <a:pt x="1131733" y="0"/>
                  </a:lnTo>
                  <a:lnTo>
                    <a:pt x="1131733" y="970530"/>
                  </a:lnTo>
                  <a:lnTo>
                    <a:pt x="0" y="970530"/>
                  </a:lnTo>
                  <a:close/>
                </a:path>
              </a:pathLst>
            </a:custGeom>
            <a:solidFill>
              <a:srgbClr val="CFF4FF"/>
            </a:solidFill>
            <a:ln w="1905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1131733" cy="10086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05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7294577" y="5374932"/>
            <a:ext cx="3692433" cy="3166488"/>
            <a:chOff x="0" y="0"/>
            <a:chExt cx="1131733" cy="97053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131733" cy="970530"/>
            </a:xfrm>
            <a:custGeom>
              <a:avLst/>
              <a:gdLst/>
              <a:ahLst/>
              <a:cxnLst/>
              <a:rect r="r" b="b" t="t" l="l"/>
              <a:pathLst>
                <a:path h="970530" w="1131733">
                  <a:moveTo>
                    <a:pt x="0" y="0"/>
                  </a:moveTo>
                  <a:lnTo>
                    <a:pt x="1131733" y="0"/>
                  </a:lnTo>
                  <a:lnTo>
                    <a:pt x="1131733" y="970530"/>
                  </a:lnTo>
                  <a:lnTo>
                    <a:pt x="0" y="970530"/>
                  </a:lnTo>
                  <a:close/>
                </a:path>
              </a:pathLst>
            </a:custGeom>
            <a:solidFill>
              <a:srgbClr val="CFF4FF"/>
            </a:solidFill>
            <a:ln w="1905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1131733" cy="10086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05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1338956" y="5374932"/>
            <a:ext cx="3692433" cy="3166488"/>
            <a:chOff x="0" y="0"/>
            <a:chExt cx="1131733" cy="97053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131733" cy="970530"/>
            </a:xfrm>
            <a:custGeom>
              <a:avLst/>
              <a:gdLst/>
              <a:ahLst/>
              <a:cxnLst/>
              <a:rect r="r" b="b" t="t" l="l"/>
              <a:pathLst>
                <a:path h="970530" w="1131733">
                  <a:moveTo>
                    <a:pt x="0" y="0"/>
                  </a:moveTo>
                  <a:lnTo>
                    <a:pt x="1131733" y="0"/>
                  </a:lnTo>
                  <a:lnTo>
                    <a:pt x="1131733" y="970530"/>
                  </a:lnTo>
                  <a:lnTo>
                    <a:pt x="0" y="970530"/>
                  </a:lnTo>
                  <a:close/>
                </a:path>
              </a:pathLst>
            </a:custGeom>
            <a:solidFill>
              <a:srgbClr val="CFF4FF"/>
            </a:solidFill>
            <a:ln w="1905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131733" cy="10086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05"/>
                </a:lnSpc>
              </a:pPr>
            </a:p>
          </p:txBody>
        </p:sp>
      </p:grpSp>
      <p:sp>
        <p:nvSpPr>
          <p:cNvPr name="Freeform 15" id="15"/>
          <p:cNvSpPr/>
          <p:nvPr/>
        </p:nvSpPr>
        <p:spPr>
          <a:xfrm flipH="false" flipV="false" rot="1313163">
            <a:off x="14330817" y="-1655690"/>
            <a:ext cx="9085628" cy="5368780"/>
          </a:xfrm>
          <a:custGeom>
            <a:avLst/>
            <a:gdLst/>
            <a:ahLst/>
            <a:cxnLst/>
            <a:rect r="r" b="b" t="t" l="l"/>
            <a:pathLst>
              <a:path h="5368780" w="9085628">
                <a:moveTo>
                  <a:pt x="0" y="0"/>
                </a:moveTo>
                <a:lnTo>
                  <a:pt x="9085629" y="0"/>
                </a:lnTo>
                <a:lnTo>
                  <a:pt x="9085629" y="5368780"/>
                </a:lnTo>
                <a:lnTo>
                  <a:pt x="0" y="536878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4011718" y="1028700"/>
            <a:ext cx="10264563" cy="9220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7200"/>
              </a:lnSpc>
              <a:spcBef>
                <a:spcPct val="0"/>
              </a:spcBef>
            </a:pPr>
            <a:r>
              <a:rPr lang="en-US" b="true" sz="6000">
                <a:solidFill>
                  <a:srgbClr val="FFFFFF"/>
                </a:solidFill>
                <a:latin typeface="Now Bold"/>
                <a:ea typeface="Now Bold"/>
                <a:cs typeface="Now Bold"/>
                <a:sym typeface="Now Bold"/>
              </a:rPr>
              <a:t>Revised Project Pivot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3845590" y="2056640"/>
            <a:ext cx="10596820" cy="26079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40"/>
              </a:lnSpc>
            </a:pPr>
            <a:r>
              <a:rPr lang="en-US" sz="300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New Project Proposal to create an immutable database or database wrapper that has in built logging and replication.</a:t>
            </a:r>
          </a:p>
          <a:p>
            <a:pPr algn="ctr">
              <a:lnSpc>
                <a:spcPts val="4140"/>
              </a:lnSpc>
            </a:pPr>
          </a:p>
          <a:p>
            <a:pPr algn="ctr" marL="0" indent="0" lvl="0">
              <a:lnSpc>
                <a:spcPts val="4140"/>
              </a:lnSpc>
              <a:spcBef>
                <a:spcPct val="0"/>
              </a:spcBef>
            </a:pPr>
            <a:r>
              <a:rPr lang="en-US" sz="300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Middleware management system still under consideration to takle the issue of database administration.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3625012" y="7444127"/>
            <a:ext cx="2949228" cy="6709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727"/>
              </a:lnSpc>
              <a:spcBef>
                <a:spcPct val="0"/>
              </a:spcBef>
            </a:pPr>
            <a:r>
              <a:rPr lang="en-US" b="true" sz="1976">
                <a:solidFill>
                  <a:srgbClr val="0071C9"/>
                </a:solidFill>
                <a:latin typeface="DM Sans Bold"/>
                <a:ea typeface="DM Sans Bold"/>
                <a:cs typeface="DM Sans Bold"/>
                <a:sym typeface="DM Sans Bold"/>
              </a:rPr>
              <a:t>Strong Data Consistency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8113323" y="7616008"/>
            <a:ext cx="2058153" cy="3271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727"/>
              </a:lnSpc>
              <a:spcBef>
                <a:spcPct val="0"/>
              </a:spcBef>
            </a:pPr>
            <a:r>
              <a:rPr lang="en-US" b="true" sz="1976">
                <a:solidFill>
                  <a:srgbClr val="F1945B"/>
                </a:solidFill>
                <a:latin typeface="DM Sans Bold"/>
                <a:ea typeface="DM Sans Bold"/>
                <a:cs typeface="DM Sans Bold"/>
                <a:sym typeface="DM Sans Bold"/>
              </a:rPr>
              <a:t>Immutable Data</a:t>
            </a:r>
          </a:p>
        </p:txBody>
      </p:sp>
      <p:sp>
        <p:nvSpPr>
          <p:cNvPr name="Freeform 20" id="20"/>
          <p:cNvSpPr/>
          <p:nvPr/>
        </p:nvSpPr>
        <p:spPr>
          <a:xfrm flipH="false" flipV="false" rot="0">
            <a:off x="4488526" y="5725935"/>
            <a:ext cx="1202642" cy="1202642"/>
          </a:xfrm>
          <a:custGeom>
            <a:avLst/>
            <a:gdLst/>
            <a:ahLst/>
            <a:cxnLst/>
            <a:rect r="r" b="b" t="t" l="l"/>
            <a:pathLst>
              <a:path h="1202642" w="1202642">
                <a:moveTo>
                  <a:pt x="0" y="0"/>
                </a:moveTo>
                <a:lnTo>
                  <a:pt x="1202642" y="0"/>
                </a:lnTo>
                <a:lnTo>
                  <a:pt x="1202642" y="1202642"/>
                </a:lnTo>
                <a:lnTo>
                  <a:pt x="0" y="120264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12773413" y="5781905"/>
            <a:ext cx="823519" cy="1146672"/>
          </a:xfrm>
          <a:custGeom>
            <a:avLst/>
            <a:gdLst/>
            <a:ahLst/>
            <a:cxnLst/>
            <a:rect r="r" b="b" t="t" l="l"/>
            <a:pathLst>
              <a:path h="1146672" w="823519">
                <a:moveTo>
                  <a:pt x="0" y="0"/>
                </a:moveTo>
                <a:lnTo>
                  <a:pt x="823519" y="0"/>
                </a:lnTo>
                <a:lnTo>
                  <a:pt x="823519" y="1146672"/>
                </a:lnTo>
                <a:lnTo>
                  <a:pt x="0" y="114667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8503759" y="5633314"/>
            <a:ext cx="1274068" cy="1295263"/>
          </a:xfrm>
          <a:custGeom>
            <a:avLst/>
            <a:gdLst/>
            <a:ahLst/>
            <a:cxnLst/>
            <a:rect r="r" b="b" t="t" l="l"/>
            <a:pathLst>
              <a:path h="1295263" w="1274068">
                <a:moveTo>
                  <a:pt x="0" y="0"/>
                </a:moveTo>
                <a:lnTo>
                  <a:pt x="1274068" y="0"/>
                </a:lnTo>
                <a:lnTo>
                  <a:pt x="1274068" y="1295263"/>
                </a:lnTo>
                <a:lnTo>
                  <a:pt x="0" y="1295263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3" id="23"/>
          <p:cNvSpPr txBox="true"/>
          <p:nvPr/>
        </p:nvSpPr>
        <p:spPr>
          <a:xfrm rot="0">
            <a:off x="12169076" y="7272247"/>
            <a:ext cx="2058153" cy="10146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727"/>
              </a:lnSpc>
              <a:spcBef>
                <a:spcPct val="0"/>
              </a:spcBef>
            </a:pPr>
            <a:r>
              <a:rPr lang="en-US" b="true" sz="1976">
                <a:solidFill>
                  <a:srgbClr val="39B54A"/>
                </a:solidFill>
                <a:latin typeface="DM Sans Bold"/>
                <a:ea typeface="DM Sans Bold"/>
                <a:cs typeface="DM Sans Bold"/>
                <a:sym typeface="DM Sans Bold"/>
              </a:rPr>
              <a:t>Asynchronous Master - Master Replication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CF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>
            <a:grpSpLocks noChangeAspect="true"/>
          </p:cNvGrpSpPr>
          <p:nvPr/>
        </p:nvGrpSpPr>
        <p:grpSpPr>
          <a:xfrm rot="0">
            <a:off x="-7814883" y="-11116"/>
            <a:ext cx="15067628" cy="10298116"/>
            <a:chOff x="0" y="0"/>
            <a:chExt cx="5508856" cy="376508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508856" cy="3765081"/>
            </a:xfrm>
            <a:custGeom>
              <a:avLst/>
              <a:gdLst/>
              <a:ahLst/>
              <a:cxnLst/>
              <a:rect r="r" b="b" t="t" l="l"/>
              <a:pathLst>
                <a:path h="3765081" w="5508856">
                  <a:moveTo>
                    <a:pt x="0" y="0"/>
                  </a:moveTo>
                  <a:lnTo>
                    <a:pt x="3335085" y="0"/>
                  </a:lnTo>
                  <a:lnTo>
                    <a:pt x="5508856" y="3765081"/>
                  </a:lnTo>
                  <a:lnTo>
                    <a:pt x="2173770" y="37650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1945B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508856" cy="3765081"/>
            </a:xfrm>
            <a:custGeom>
              <a:avLst/>
              <a:gdLst/>
              <a:ahLst/>
              <a:cxnLst/>
              <a:rect r="r" b="b" t="t" l="l"/>
              <a:pathLst>
                <a:path h="3765081" w="5508856">
                  <a:moveTo>
                    <a:pt x="0" y="0"/>
                  </a:moveTo>
                  <a:lnTo>
                    <a:pt x="3335085" y="0"/>
                  </a:lnTo>
                  <a:lnTo>
                    <a:pt x="5508856" y="3765081"/>
                  </a:lnTo>
                  <a:lnTo>
                    <a:pt x="2173770" y="376508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259" t="0" r="-1259" b="0"/>
              </a:stretch>
            </a:blipFill>
          </p:spPr>
        </p:sp>
      </p:grpSp>
      <p:sp>
        <p:nvSpPr>
          <p:cNvPr name="Freeform 5" id="5"/>
          <p:cNvSpPr/>
          <p:nvPr/>
        </p:nvSpPr>
        <p:spPr>
          <a:xfrm flipH="false" flipV="false" rot="0">
            <a:off x="-2622339" y="7919689"/>
            <a:ext cx="6452848" cy="5596379"/>
          </a:xfrm>
          <a:custGeom>
            <a:avLst/>
            <a:gdLst/>
            <a:ahLst/>
            <a:cxnLst/>
            <a:rect r="r" b="b" t="t" l="l"/>
            <a:pathLst>
              <a:path h="5596379" w="6452848">
                <a:moveTo>
                  <a:pt x="0" y="0"/>
                </a:moveTo>
                <a:lnTo>
                  <a:pt x="6452849" y="0"/>
                </a:lnTo>
                <a:lnTo>
                  <a:pt x="6452849" y="5596379"/>
                </a:lnTo>
                <a:lnTo>
                  <a:pt x="0" y="559637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10800000">
            <a:off x="13367400" y="-2798190"/>
            <a:ext cx="6452848" cy="5596379"/>
          </a:xfrm>
          <a:custGeom>
            <a:avLst/>
            <a:gdLst/>
            <a:ahLst/>
            <a:cxnLst/>
            <a:rect r="r" b="b" t="t" l="l"/>
            <a:pathLst>
              <a:path h="5596379" w="6452848">
                <a:moveTo>
                  <a:pt x="0" y="0"/>
                </a:moveTo>
                <a:lnTo>
                  <a:pt x="6452849" y="0"/>
                </a:lnTo>
                <a:lnTo>
                  <a:pt x="6452849" y="5596380"/>
                </a:lnTo>
                <a:lnTo>
                  <a:pt x="0" y="559638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2278535" y="1813974"/>
            <a:ext cx="13730929" cy="6659052"/>
          </a:xfrm>
          <a:custGeom>
            <a:avLst/>
            <a:gdLst/>
            <a:ahLst/>
            <a:cxnLst/>
            <a:rect r="r" b="b" t="t" l="l"/>
            <a:pathLst>
              <a:path h="6659052" w="13730929">
                <a:moveTo>
                  <a:pt x="0" y="0"/>
                </a:moveTo>
                <a:lnTo>
                  <a:pt x="13730930" y="0"/>
                </a:lnTo>
                <a:lnTo>
                  <a:pt x="13730930" y="6659052"/>
                </a:lnTo>
                <a:lnTo>
                  <a:pt x="0" y="66590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2116716" y="567690"/>
            <a:ext cx="14054567" cy="9220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7200"/>
              </a:lnSpc>
              <a:spcBef>
                <a:spcPct val="0"/>
              </a:spcBef>
            </a:pPr>
            <a:r>
              <a:rPr lang="en-US" b="true" sz="6000">
                <a:solidFill>
                  <a:srgbClr val="000000"/>
                </a:solidFill>
                <a:latin typeface="Now Bold"/>
                <a:ea typeface="Now Bold"/>
                <a:cs typeface="Now Bold"/>
                <a:sym typeface="Now Bold"/>
              </a:rPr>
              <a:t>Thank you for listening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DAGYc-nYgoM</dc:identifier>
  <dcterms:modified xsi:type="dcterms:W3CDTF">2011-08-01T06:04:30Z</dcterms:modified>
  <cp:revision>1</cp:revision>
  <dc:title>FYP Presentation - Adam O’Mahony T00227115</dc:title>
</cp:coreProperties>
</file>